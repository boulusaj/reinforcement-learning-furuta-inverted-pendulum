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84efba79d497c" /><Relationship Type="http://schemas.openxmlformats.org/officeDocument/2006/relationships/extended-properties" Target="/docProps/app.xml" Id="Re49a64afb5024e7f" /><Relationship Type="http://schemas.openxmlformats.org/officeDocument/2006/relationships/officeDocument" Target="/ppt/presentation.xml" Id="R72d0ea1a0f85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3ef8d2d54a4671"/>
  </p:sldMasterIdLst>
  <p:notesMasterIdLst>
    <p:notesMasterId xmlns:r="http://schemas.openxmlformats.org/officeDocument/2006/relationships" r:id="R23695d83630147fc"/>
  </p:notesMasterIdLst>
  <p:sldIdLst>
    <p:sldId xmlns:r="http://schemas.openxmlformats.org/officeDocument/2006/relationships" id="256" r:id="Rdab3f87ffa634bc0"/>
    <p:sldId xmlns:r="http://schemas.openxmlformats.org/officeDocument/2006/relationships" id="257" r:id="R4ab8badd96ec4d13"/>
    <p:sldId xmlns:r="http://schemas.openxmlformats.org/officeDocument/2006/relationships" id="258" r:id="R14d17934bc7a4c27"/>
    <p:sldId xmlns:r="http://schemas.openxmlformats.org/officeDocument/2006/relationships" id="259" r:id="R4beaddf4f2814751"/>
    <p:sldId xmlns:r="http://schemas.openxmlformats.org/officeDocument/2006/relationships" id="260" r:id="R909eb13e21914dd3"/>
    <p:sldId xmlns:r="http://schemas.openxmlformats.org/officeDocument/2006/relationships" id="261" r:id="Rcea70aeb6e824d7b"/>
    <p:sldId xmlns:r="http://schemas.openxmlformats.org/officeDocument/2006/relationships" id="262" r:id="R5348a9ea1c68419e"/>
    <p:sldId xmlns:r="http://schemas.openxmlformats.org/officeDocument/2006/relationships" id="263" r:id="R386c5a12c42c4524"/>
    <p:sldId xmlns:r="http://schemas.openxmlformats.org/officeDocument/2006/relationships" id="264" r:id="R9be085359bee4901"/>
    <p:sldId xmlns:r="http://schemas.openxmlformats.org/officeDocument/2006/relationships" id="265" r:id="Rf1c80699f7d34ad2"/>
    <p:sldId xmlns:r="http://schemas.openxmlformats.org/officeDocument/2006/relationships" id="266" r:id="R3b061a7b080a4318"/>
    <p:sldId xmlns:r="http://schemas.openxmlformats.org/officeDocument/2006/relationships" id="267" r:id="Rd6081c6215604fff"/>
    <p:sldId xmlns:r="http://schemas.openxmlformats.org/officeDocument/2006/relationships" id="268" r:id="R26b7f3030b3248bd"/>
    <p:sldId xmlns:r="http://schemas.openxmlformats.org/officeDocument/2006/relationships" id="269" r:id="R3b62a95039dc47bd"/>
    <p:sldId xmlns:r="http://schemas.openxmlformats.org/officeDocument/2006/relationships" id="270" r:id="R552a59d52596459d"/>
    <p:sldId xmlns:r="http://schemas.openxmlformats.org/officeDocument/2006/relationships" id="271" r:id="R77475ebcef1f4c40"/>
    <p:sldId xmlns:r="http://schemas.openxmlformats.org/officeDocument/2006/relationships" id="272" r:id="Re87f53ee1b454cd1"/>
    <p:sldId xmlns:r="http://schemas.openxmlformats.org/officeDocument/2006/relationships" id="273" r:id="R5e368e66887d4335"/>
    <p:sldId xmlns:r="http://schemas.openxmlformats.org/officeDocument/2006/relationships" id="274" r:id="Rb1405e05b891481a"/>
    <p:sldId xmlns:r="http://schemas.openxmlformats.org/officeDocument/2006/relationships" id="275" r:id="Rce10993f51094c7b"/>
    <p:sldId xmlns:r="http://schemas.openxmlformats.org/officeDocument/2006/relationships" id="276" r:id="R1bc0edd7fe484c51"/>
    <p:sldId xmlns:r="http://schemas.openxmlformats.org/officeDocument/2006/relationships" id="277" r:id="Rfd793a7e4cfe49d3"/>
    <p:sldId xmlns:r="http://schemas.openxmlformats.org/officeDocument/2006/relationships" id="278" r:id="R261e412b0a834d57"/>
    <p:sldId xmlns:r="http://schemas.openxmlformats.org/officeDocument/2006/relationships" id="279" r:id="R5f1dbc123b5949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d66fb171954438" /><Relationship Type="http://schemas.openxmlformats.org/officeDocument/2006/relationships/slideMaster" Target="/ppt/slideMasters/slideMaster1.xml" Id="R973ef8d2d54a4671" /><Relationship Type="http://schemas.openxmlformats.org/officeDocument/2006/relationships/notesMaster" Target="/ppt/notesMasters/notesMaster1.xml" Id="R23695d83630147fc" /><Relationship Type="http://schemas.openxmlformats.org/officeDocument/2006/relationships/presProps" Target="/ppt/presProps.xml" Id="Rd20aa64b3f204167" /><Relationship Type="http://schemas.openxmlformats.org/officeDocument/2006/relationships/tableStyles" Target="/ppt/tableStyles.xml" Id="Rd77728565e8f45da" /><Relationship Type="http://schemas.openxmlformats.org/officeDocument/2006/relationships/slide" Target="/ppt/slides/slide1.xml" Id="Rdab3f87ffa634bc0" /><Relationship Type="http://schemas.openxmlformats.org/officeDocument/2006/relationships/slide" Target="/ppt/slides/slide2.xml" Id="R4ab8badd96ec4d13" /><Relationship Type="http://schemas.openxmlformats.org/officeDocument/2006/relationships/slide" Target="/ppt/slides/slide3.xml" Id="R14d17934bc7a4c27" /><Relationship Type="http://schemas.openxmlformats.org/officeDocument/2006/relationships/slide" Target="/ppt/slides/slide4.xml" Id="R4beaddf4f2814751" /><Relationship Type="http://schemas.openxmlformats.org/officeDocument/2006/relationships/slide" Target="/ppt/slides/slide5.xml" Id="R909eb13e21914dd3" /><Relationship Type="http://schemas.openxmlformats.org/officeDocument/2006/relationships/slide" Target="/ppt/slides/slide6.xml" Id="Rcea70aeb6e824d7b" /><Relationship Type="http://schemas.openxmlformats.org/officeDocument/2006/relationships/slide" Target="/ppt/slides/slide7.xml" Id="R5348a9ea1c68419e" /><Relationship Type="http://schemas.openxmlformats.org/officeDocument/2006/relationships/slide" Target="/ppt/slides/slide8.xml" Id="R386c5a12c42c4524" /><Relationship Type="http://schemas.openxmlformats.org/officeDocument/2006/relationships/slide" Target="/ppt/slides/slide9.xml" Id="R9be085359bee4901" /><Relationship Type="http://schemas.openxmlformats.org/officeDocument/2006/relationships/slide" Target="/ppt/slides/slide10.xml" Id="Rf1c80699f7d34ad2" /><Relationship Type="http://schemas.openxmlformats.org/officeDocument/2006/relationships/slide" Target="/ppt/slides/slide11.xml" Id="R3b061a7b080a4318" /><Relationship Type="http://schemas.openxmlformats.org/officeDocument/2006/relationships/slide" Target="/ppt/slides/slide12.xml" Id="Rd6081c6215604fff" /><Relationship Type="http://schemas.openxmlformats.org/officeDocument/2006/relationships/slide" Target="/ppt/slides/slide13.xml" Id="R26b7f3030b3248bd" /><Relationship Type="http://schemas.openxmlformats.org/officeDocument/2006/relationships/slide" Target="/ppt/slides/slide14.xml" Id="R3b62a95039dc47bd" /><Relationship Type="http://schemas.openxmlformats.org/officeDocument/2006/relationships/slide" Target="/ppt/slides/slide15.xml" Id="R552a59d52596459d" /><Relationship Type="http://schemas.openxmlformats.org/officeDocument/2006/relationships/slide" Target="/ppt/slides/slide16.xml" Id="R77475ebcef1f4c40" /><Relationship Type="http://schemas.openxmlformats.org/officeDocument/2006/relationships/slide" Target="/ppt/slides/slide17.xml" Id="Re87f53ee1b454cd1" /><Relationship Type="http://schemas.openxmlformats.org/officeDocument/2006/relationships/slide" Target="/ppt/slides/slide18.xml" Id="R5e368e66887d4335" /><Relationship Type="http://schemas.openxmlformats.org/officeDocument/2006/relationships/slide" Target="/ppt/slides/slide19.xml" Id="Rb1405e05b891481a" /><Relationship Type="http://schemas.openxmlformats.org/officeDocument/2006/relationships/slide" Target="/ppt/slides/slide20.xml" Id="Rce10993f51094c7b" /><Relationship Type="http://schemas.openxmlformats.org/officeDocument/2006/relationships/slide" Target="/ppt/slides/slide21.xml" Id="R1bc0edd7fe484c51" /><Relationship Type="http://schemas.openxmlformats.org/officeDocument/2006/relationships/slide" Target="/ppt/slides/slide22.xml" Id="Rfd793a7e4cfe49d3" /><Relationship Type="http://schemas.openxmlformats.org/officeDocument/2006/relationships/slide" Target="/ppt/slides/slide23.xml" Id="R261e412b0a834d57" /><Relationship Type="http://schemas.openxmlformats.org/officeDocument/2006/relationships/slide" Target="/ppt/slides/slide24.xml" Id="R5f1dbc123b59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2b96abc5de40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c3ab75e204cb2" /><Relationship Type="http://schemas.openxmlformats.org/officeDocument/2006/relationships/notesMaster" Target="/ppt/notesMasters/notesMaster1.xml" Id="R872dce7b245f4d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ba84d6f5dd455f" /><Relationship Type="http://schemas.openxmlformats.org/officeDocument/2006/relationships/notesMaster" Target="/ppt/notesMasters/notesMaster1.xml" Id="Rfe3ea4e3413345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5f6e8fec514e7e" /><Relationship Type="http://schemas.openxmlformats.org/officeDocument/2006/relationships/notesMaster" Target="/ppt/notesMasters/notesMaster1.xml" Id="R0425b36dcdeb4f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41df9111564a64" /><Relationship Type="http://schemas.openxmlformats.org/officeDocument/2006/relationships/notesMaster" Target="/ppt/notesMasters/notesMaster1.xml" Id="R016a9b75ecf64b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1ff9c6c5cb41d8" /><Relationship Type="http://schemas.openxmlformats.org/officeDocument/2006/relationships/notesMaster" Target="/ppt/notesMasters/notesMaster1.xml" Id="R00d4953f14ed4b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5d7ef661064f0a" /><Relationship Type="http://schemas.openxmlformats.org/officeDocument/2006/relationships/notesMaster" Target="/ppt/notesMasters/notesMaster1.xml" Id="R29205474f5cb4d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7c43cd17c647b7" /><Relationship Type="http://schemas.openxmlformats.org/officeDocument/2006/relationships/notesMaster" Target="/ppt/notesMasters/notesMaster1.xml" Id="R3046cd03e16f48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3c9e518f374889" /><Relationship Type="http://schemas.openxmlformats.org/officeDocument/2006/relationships/notesMaster" Target="/ppt/notesMasters/notesMaster1.xml" Id="R3246644d8fcb46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5fbaad76064fc1" /><Relationship Type="http://schemas.openxmlformats.org/officeDocument/2006/relationships/notesMaster" Target="/ppt/notesMasters/notesMaster1.xml" Id="R32141ff7e44840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aebebf86aa49d9" /><Relationship Type="http://schemas.openxmlformats.org/officeDocument/2006/relationships/notesMaster" Target="/ppt/notesMasters/notesMaster1.xml" Id="Rb3b141bfd1d34f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59ffee7d4d49c1" /><Relationship Type="http://schemas.openxmlformats.org/officeDocument/2006/relationships/notesMaster" Target="/ppt/notesMasters/notesMaster1.xml" Id="R80599d8a1aef46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2bd0515c8f4689" /><Relationship Type="http://schemas.openxmlformats.org/officeDocument/2006/relationships/notesMaster" Target="/ppt/notesMasters/notesMaster1.xml" Id="Reda9edf264e747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fdc8e9bdbd4583" /><Relationship Type="http://schemas.openxmlformats.org/officeDocument/2006/relationships/notesMaster" Target="/ppt/notesMasters/notesMaster1.xml" Id="R88c4be6e159d43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9d12e51d964a7c" /><Relationship Type="http://schemas.openxmlformats.org/officeDocument/2006/relationships/notesMaster" Target="/ppt/notesMasters/notesMaster1.xml" Id="Rf8a9e9ff464a40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44b4dafb72454b" /><Relationship Type="http://schemas.openxmlformats.org/officeDocument/2006/relationships/notesMaster" Target="/ppt/notesMasters/notesMaster1.xml" Id="R24e9192c3f5f41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82e2dbbe014691" /><Relationship Type="http://schemas.openxmlformats.org/officeDocument/2006/relationships/notesMaster" Target="/ppt/notesMasters/notesMaster1.xml" Id="R099fd844123f40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5396dad813410d" /><Relationship Type="http://schemas.openxmlformats.org/officeDocument/2006/relationships/notesMaster" Target="/ppt/notesMasters/notesMaster1.xml" Id="R19d783f6839f46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54583537fd4e50" /><Relationship Type="http://schemas.openxmlformats.org/officeDocument/2006/relationships/notesMaster" Target="/ppt/notesMasters/notesMaster1.xml" Id="R8b137aa9a0a545f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ee96b4a2e746f4" /><Relationship Type="http://schemas.openxmlformats.org/officeDocument/2006/relationships/notesMaster" Target="/ppt/notesMasters/notesMaster1.xml" Id="R347079b598244b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ebdc7a7e2f4b33" /><Relationship Type="http://schemas.openxmlformats.org/officeDocument/2006/relationships/notesMaster" Target="/ppt/notesMasters/notesMaster1.xml" Id="R8a7602b1237045f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01db0986f5544a9" /><Relationship Type="http://schemas.openxmlformats.org/officeDocument/2006/relationships/notesMaster" Target="/ppt/notesMasters/notesMaster1.xml" Id="R2b20348a98dd42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40a096c9b94713" /><Relationship Type="http://schemas.openxmlformats.org/officeDocument/2006/relationships/notesMaster" Target="/ppt/notesMasters/notesMaster1.xml" Id="Rbb14d7b057404c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2d684f31c040a7" /><Relationship Type="http://schemas.openxmlformats.org/officeDocument/2006/relationships/notesMaster" Target="/ppt/notesMasters/notesMaster1.xml" Id="R07d65332e87b434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66451e6b2746fe" /><Relationship Type="http://schemas.openxmlformats.org/officeDocument/2006/relationships/notesMaster" Target="/ppt/notesMasters/notesMaster1.xml" Id="Rab28aff4e771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naturally: this is not a victory-lap talk. The useful result is that the project moved from fragile training attempts to a controller we can actually evaluate and discuss scientifically.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mostly orientation. Say that the project has entered the evaluation and decision-gate phase.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bridge slide. The water tank work was valuable because it built the project discipline: staged difficulty, reward scaling, fixed evaluation, and organized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gives a natural-language explanation. The curriculum idea was not just copied blindly; it came from trying to make learning and evaluation scientifically staged.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the Water Tank work went beyond the MATLAB example. The key phrase: the original reward taught acceptable behavior, but not precision.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tees up the next three plots. The water tank is simple but asymmetric, which makes reward shaping surprisingly brittle.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honest summary: the water tank produced useful behaviors, but the reward design never became universally satisfying.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intentionally only shows height/reference and action. This is the easy direction for the actuator.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contrast with the raising case. The one-direction actuator explains why reward tuning was not symmetric.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the exact at-reference trajectory was not exported. The saved metrics are real; the plotted line is a simple sketch to communicate the desired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should sound natural: I moved on because reward shaping started feeling like whack-a-mole across cases, not because the water tank was useless.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that TD3 was a deliberate choice, not just the algorithm at hand. SAC/PPO hybrid was known, but it would have changed the architecture more radically.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'what I learned' slide. The early approach was not wasted: it uncovered signal, reward, timing, and evaluation problems.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dwell too long on the formula unless asked. The important point is that the setup became stable enough to learn, then the evaluation revealed what was still weak.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lets you avoid listing 297 cases. Say the matrix is a Cartesian product of four interpretable stress axes.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explain the user's newest evaluation improvement. The key is the last-second window and detrending: separate bias from oscillation amplitude.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this is the first run that feels genuinely usable. But the late spikes remind us not to claim robustness just from training reward.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best positive result. Make the nuance clear: successful cases are often very good, but broad robustness is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good informal slide. It turns the failure story from vague to actionable: reward and arm constraints need attention.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clean tradeoff slide. Say: PI/current is the safer overall policy, voltage is a useful clue about the final oscillation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per-case CSVs are metrics tables, not trajectory logs. The plot uses exact matched rows from both evaluations.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Phrase carefully: the new PI/current rerun proves the Simscape-active problem is not only caused by the voltage command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updated decision-gate slide. It replaces the pending rerun with the actual plant-mismatch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clean takeaway: the new metrics did their job by separating final oscillation behavior from broad robustness.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b3cfdc87d47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6b3065ab854194" /><Relationship Type="http://schemas.openxmlformats.org/officeDocument/2006/relationships/slideLayout" Target="/ppt/slideLayouts/slideLayout1.xml" Id="R69ef7ec529c842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f7ec529c8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1eb2249264c00" /><Relationship Type="http://schemas.openxmlformats.org/officeDocument/2006/relationships/notesSlide" Target="/ppt/notesSlides/notesSlide1.xml" Id="R2e809b0ad3bd45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a801057174bcc" /><Relationship Type="http://schemas.openxmlformats.org/officeDocument/2006/relationships/notesSlide" Target="/ppt/notesSlides/notesSlide2.xml" Id="R4a92c44b98cf4c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4a2b3af7441f0" /><Relationship Type="http://schemas.openxmlformats.org/officeDocument/2006/relationships/notesSlide" Target="/ppt/notesSlides/notesSlide3.xml" Id="R359e18fd4a0e4c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bb8b5d5454c1b" /><Relationship Type="http://schemas.openxmlformats.org/officeDocument/2006/relationships/notesSlide" Target="/ppt/notesSlides/notesSlide4.xml" Id="R8985fb3f70d44c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3431da1e14145" /><Relationship Type="http://schemas.openxmlformats.org/officeDocument/2006/relationships/notesSlide" Target="/ppt/notesSlides/notesSlide5.xml" Id="Rf594f429397549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087ec43db41ac" /><Relationship Type="http://schemas.openxmlformats.org/officeDocument/2006/relationships/notesSlide" Target="/ppt/notesSlides/notesSlide6.xml" Id="R82411a1285ea43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f7b67709d42df" /><Relationship Type="http://schemas.openxmlformats.org/officeDocument/2006/relationships/notesSlide" Target="/ppt/notesSlides/notesSlide7.xml" Id="Rc58a81f53c9646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fd4277a314287" /><Relationship Type="http://schemas.openxmlformats.org/officeDocument/2006/relationships/image" Target="/ppt/media/image.png" Id="R1e098240827f47a4" /><Relationship Type="http://schemas.openxmlformats.org/officeDocument/2006/relationships/notesSlide" Target="/ppt/notesSlides/notesSlide8.xml" Id="R0d926bd707ef45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a75249b14430b" /><Relationship Type="http://schemas.openxmlformats.org/officeDocument/2006/relationships/image" Target="/ppt/media/image2.png" Id="Rdb271d95e75f413e" /><Relationship Type="http://schemas.openxmlformats.org/officeDocument/2006/relationships/notesSlide" Target="/ppt/notesSlides/notesSlide9.xml" Id="R97b2f82c4c6d43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12670f5e444f" /><Relationship Type="http://schemas.openxmlformats.org/officeDocument/2006/relationships/image" Target="/ppt/media/image3.png" Id="Ra40b73303fff4935" /><Relationship Type="http://schemas.openxmlformats.org/officeDocument/2006/relationships/notesSlide" Target="/ppt/notesSlides/notesSlide10.xml" Id="R1a5bb31e972e4e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b4e2a50244941" /><Relationship Type="http://schemas.openxmlformats.org/officeDocument/2006/relationships/notesSlide" Target="/ppt/notesSlides/notesSlide11.xml" Id="Re9637727aa8644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4e0cde6f94cee" /><Relationship Type="http://schemas.openxmlformats.org/officeDocument/2006/relationships/notesSlide" Target="/ppt/notesSlides/notesSlide12.xml" Id="Reeea62524e6b47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3e8b5153e4b64" /><Relationship Type="http://schemas.openxmlformats.org/officeDocument/2006/relationships/notesSlide" Target="/ppt/notesSlides/notesSlide13.xml" Id="Rc50a8d12b92a4c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dfeda0a304da5" /><Relationship Type="http://schemas.openxmlformats.org/officeDocument/2006/relationships/notesSlide" Target="/ppt/notesSlides/notesSlide14.xml" Id="R3348cc28250949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27de55a764677" /><Relationship Type="http://schemas.openxmlformats.org/officeDocument/2006/relationships/notesSlide" Target="/ppt/notesSlides/notesSlide15.xml" Id="R00793d0f092146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e7efd54574fef" /><Relationship Type="http://schemas.openxmlformats.org/officeDocument/2006/relationships/notesSlide" Target="/ppt/notesSlides/notesSlide16.xml" Id="R5c341a3627a24b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e292c0c70448b" /><Relationship Type="http://schemas.openxmlformats.org/officeDocument/2006/relationships/image" Target="/ppt/media/image4.png" Id="R8c18a30874e24045" /><Relationship Type="http://schemas.openxmlformats.org/officeDocument/2006/relationships/notesSlide" Target="/ppt/notesSlides/notesSlide17.xml" Id="Rade43cfa586342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8a0981d534b32" /><Relationship Type="http://schemas.openxmlformats.org/officeDocument/2006/relationships/image" Target="/ppt/media/image5.png" Id="R135b07a6d2224ee1" /><Relationship Type="http://schemas.openxmlformats.org/officeDocument/2006/relationships/notesSlide" Target="/ppt/notesSlides/notesSlide18.xml" Id="Rec7e7b9b111c49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da23200544db6" /><Relationship Type="http://schemas.openxmlformats.org/officeDocument/2006/relationships/notesSlide" Target="/ppt/notesSlides/notesSlide19.xml" Id="R6c8e08eb870d4fc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c40ce21c64a85" /><Relationship Type="http://schemas.openxmlformats.org/officeDocument/2006/relationships/image" Target="/ppt/media/image6.png" Id="R2cf62a1c95d64568" /><Relationship Type="http://schemas.openxmlformats.org/officeDocument/2006/relationships/notesSlide" Target="/ppt/notesSlides/notesSlide20.xml" Id="Rf35d22fea2874db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1d3fb46974b83" /><Relationship Type="http://schemas.openxmlformats.org/officeDocument/2006/relationships/image" Target="/ppt/media/image7.png" Id="Rb47e351cd3664b9c" /><Relationship Type="http://schemas.openxmlformats.org/officeDocument/2006/relationships/notesSlide" Target="/ppt/notesSlides/notesSlide21.xml" Id="R37b519d7ce2b4f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8311aadf74107" /><Relationship Type="http://schemas.openxmlformats.org/officeDocument/2006/relationships/image" Target="/ppt/media/image8.png" Id="R2c95b22f55bf4992" /><Relationship Type="http://schemas.openxmlformats.org/officeDocument/2006/relationships/notesSlide" Target="/ppt/notesSlides/notesSlide22.xml" Id="R099e5e6b261145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d6d5470574701" /><Relationship Type="http://schemas.openxmlformats.org/officeDocument/2006/relationships/notesSlide" Target="/ppt/notesSlides/notesSlide23.xml" Id="R4fc7ce3d98b640e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d44e17b174033" /><Relationship Type="http://schemas.openxmlformats.org/officeDocument/2006/relationships/notesSlide" Target="/ppt/notesSlides/notesSlide24.xml" Id="R8c649e4c4f1643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B6D1E-27AA-418A-844A-944190D0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inverted pendulum RL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5E08F-5D20-4BFB-9908-609678D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596B7A"/>
                </a:solidFill>
                <a:latin typeface="Aptos"/>
                <a:ea typeface="Aptos"/>
                <a:cs typeface="Aptos"/>
              </a:rPr>
              <a:t>Update meeting: what worked, what did not, and what needs a careful dry run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2AD25-6373-4C15-AF2D-C23BBA23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287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14125-07A8-47B2-A96C-F4D6BA1C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Current honest headline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99E2-2DA1-4BE5-81CB-054F5C3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04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RL learned a useful swing-up/stabilization policy in simulation, but robustness and sim-to-real behavior depend strongly on reward design, actuator interface, and plant-model consistency.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DE09A-7B22-43F3-8A17-D180D26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Prepared from project notes and saved TD3 run artifacts</a:t>
            </a:r>
          </a:p>
        </p:txBody>
      </p:sp>
    </p:spTree>
    <p:extLst>
      <p:ext uri="{BB962C8B-B14F-4D97-AF65-F5344CB8AC3E}">
        <p14:creationId xmlns:p14="http://schemas.microsoft.com/office/powerpoint/2010/main" val="1467627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21F1B-4DA3-484C-9A73-CC3BD27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D453D-5EA6-41E7-9AF1-A17B99F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Where we are in the project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3B12B-554B-4CE6-B4FE-92D74BEF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762F3-2ADD-4EB6-9B5B-B8CB3EA7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1-7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5D6EB-132A-4CBB-AC3A-70000EA3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Model, signals, simulation setup, baseline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98C09-1A99-494D-8A3B-331F2DB4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A8CC3-505B-4566-B5BE-CC88B22F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8-12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F071F-85C3-4E37-9D97-634698F1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RL training worked after moving away from the fragile curriculum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ED782-F653-4B3D-98E4-DDCB7D6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2FBC6-4D63-4D5E-9371-4C0CD3BD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Days 13-16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9D39E-7FA2-43B0-A48B-6D9A5B7E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Current phase: robustness, fixed evaluation, actuator and plant diagnostics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44A0A-70DC-4419-AFC4-FB9F2FE3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38375"/>
            <a:ext cx="2286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59E0A-A63D-4E93-926A-A1B6517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Days 17-20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5D0CD-75DC-455D-8F6D-71B4CBC7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story, plots, demo choice, hardware dry-run preparation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F094F-A4E9-4C7E-8994-C9E16EC0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framing: show the controller as useful in simulation, not solved for hardware.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D9631-F744-4A66-8704-475AB3F4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meeting handoff, MathWorks-style TD3 notes, saved run CSVs</a:t>
            </a:r>
          </a:p>
        </p:txBody>
      </p:sp>
    </p:spTree>
    <p:extLst>
      <p:ext uri="{BB962C8B-B14F-4D97-AF65-F5344CB8AC3E}">
        <p14:creationId xmlns:p14="http://schemas.microsoft.com/office/powerpoint/2010/main" val="395904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CBE5D1-3B02-43B4-97D7-AC2B8B29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18397-3A5F-4CCE-80A4-99CB6909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Before Furuta: the Water Tank project became the workflow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EA016-519A-41DF-A879-2AF70C6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45814-4099-49BF-BDF4-9E744BD7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Base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B20E1-59C2-41E3-8697-B11C5EF4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Started from MathWorks rlwatertank DDPG: compact example, single training run, random starts.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BC474-AA6C-4E5C-8916-D3602D44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C91C9-B006-4822-98F2-48B8B96B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Curriculum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FA6593-EE80-4442-9C37-052831B9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Extended it into four stages: local correction, medium transient, global robustness, precision fine-tuning.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8E42B-19B8-49C1-AD1A-4F9E6C72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DF4BF-B4E4-457A-BA70-C436FFCF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Reward 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52E4D-4BAE-42B7-ABDF-3CFF30BA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Moved from tolerance-band success toward normalized tracking error, action effort, and action smoothness.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9D060-FD6C-40DF-8F53-DE2EF48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D0FC2-1B22-41F1-BE2C-D3AA1D46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Evaluation lesson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E0843-A94C-44FA-851C-1C778B57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Saved per-stage artifacts and used fixed/deterministic evaluations so results were not dominated by random initial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258BB-E6AD-47E2-86EC-C49F9919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721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Carry-over to Furuta: define the task, shape the reset distribution, log the signals, and evaluate fixed cases before believing training reward.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3FF8D-1636-4FC4-9874-B910A94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README and curriculum docs; docs/chat_handoff_2026-06-09.md</a:t>
            </a:r>
          </a:p>
        </p:txBody>
      </p:sp>
    </p:spTree>
    <p:extLst>
      <p:ext uri="{BB962C8B-B14F-4D97-AF65-F5344CB8AC3E}">
        <p14:creationId xmlns:p14="http://schemas.microsoft.com/office/powerpoint/2010/main" val="408883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0DC715-F3A5-4A29-A8CD-5E101B9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02C5F-71B3-45C4-BB43-1DAE3A09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Where the curriculum idea came from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C21F6-7341-4C15-A28F-744D80F6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8D0F4-94A7-4674-9373-0BD2215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AD0C3-260B-4983-9E19-B1BA4F38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B03F6-2A0D-47D5-965D-B4EDE231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Practical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F9102-1474-4104-85AD-7D4BFD25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Tank: learn small corrections first, then widen the initial-condition distribution and reduce exploration for precision.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B3008-55D7-42AE-A6AC-1DA31490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Control reason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EAA7A-0E57-4BF1-94AF-B375BDC1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 nonlinear controller should not be judged only on random starts. Each stage should answer a narrower control question.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BF669-7245-4039-9DD7-16CE6B1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Pendulum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72523-66AE-464E-8F73-4F8A1BA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19375"/>
            <a:ext cx="2428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For Furuta, the natural curriculum was angle/velocity range: near-upright balance, medium recovery, large-angle recovery, full swing-up.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A524C-8AE2-4ACF-8D8D-3957472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04638-6A81-411C-969A-4F04C86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911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Important lesson: if the reward or reset distribution changes a lot, old replay/critic information can become misleading.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0B673-C8EE-4FC0-AB9A-7FB2C7E6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curriculum docs; docs/rl_task_definition.md; docs/direct_td3_swingup_plan_2026-06-11.md</a:t>
            </a:r>
          </a:p>
        </p:txBody>
      </p:sp>
    </p:spTree>
    <p:extLst>
      <p:ext uri="{BB962C8B-B14F-4D97-AF65-F5344CB8AC3E}">
        <p14:creationId xmlns:p14="http://schemas.microsoft.com/office/powerpoint/2010/main" val="1482665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67DF79-2322-48CE-8A02-9A354AE7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7D021-ACF7-4AE8-ACC0-A35FCC86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reward: from MATLAB's band reward to control-shaped 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DB4DE-B693-42B3-8571-6717FBD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857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9AEF2-EC1E-47B3-943E-BF22203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MathWorks example reward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F15FE-4D79-4C19-B774-0289F4C1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717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+10 if |e| &lt; 0.1</a:t>
            </a:r>
          </a:p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-1 otherwise</a:t>
            </a:r>
          </a:p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-100 if the tank hits unsafe height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598D0-A508-4215-8D7D-C26AA2E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A"/>
                </a:solidFill>
                <a:latin typeface="Aptos"/>
                <a:ea typeface="Aptos"/>
                <a:cs typeface="Aptos"/>
              </a:rPr>
              <a:t>Good for teaching the agent to enter the acceptable band. Weak for precise steady-state tracking, because 0.09 error and near-zero error can receive the same reward.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CA3A2-D49D-41D4-B15B-6059F53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857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2E121-B271-4837-BEE6-53CFFC76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19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Final project reward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B5886-9FF3-4490-9A1C-C465D338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765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normalized error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integral-error / PI-like terms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 effort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action-difference smoothness</a:t>
            </a:r>
          </a:p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unsafe-level penalty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6F01C-D28A-41AB-976A-70197A3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57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A"/>
                </a:solidFill>
                <a:latin typeface="Aptos"/>
                <a:ea typeface="Aptos"/>
                <a:cs typeface="Aptos"/>
              </a:rPr>
              <a:t>Potential shaping was used as curriculum assistance, but the base objective was kept as consistent as possible.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3A323-5060-4E15-A8E2-FB5F210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Lesson: reward scale is part of the controller design. A sudden reward rewrite can invalidate the critic and replay buffer.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E0F2A-1217-46D1-9C17-551B10B8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MathWorks rlwatertank example; RL-Water-Tank README; scripts/rewardFcn.m; scripts/makeStageConfig.m</a:t>
            </a:r>
          </a:p>
        </p:txBody>
      </p:sp>
    </p:spTree>
    <p:extLst>
      <p:ext uri="{BB962C8B-B14F-4D97-AF65-F5344CB8AC3E}">
        <p14:creationId xmlns:p14="http://schemas.microsoft.com/office/powerpoint/2010/main" val="47232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3EE0F4-02D8-4AE9-A27D-96496245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F052B-54AD-4C5C-AAAA-7EBB423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Why the Water Tank was harder than it looked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37AF8-8EB6-4934-9B68-8BE6D5E6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74829-9DE0-430D-B278-355E0EE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One-sided actuation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FEB7D-D06A-4464-9909-4CF13651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agent controls inlet flow. It can add water quickly, but when the tank is too high it cannot actively pull water out. The best action is often near-zero flow plus waiting for passive drainage.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C30A3-67A2-4182-A9E4-0B45BF80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6524B-19D3-4963-8CD3-34FC803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71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Asymmetric learning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BD9E1-C567-4ECD-85DC-D5229488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62250"/>
            <a:ext cx="3905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5313D"/>
                </a:solidFill>
                <a:latin typeface="Aptos"/>
                <a:ea typeface="Aptos"/>
                <a:cs typeface="Aptos"/>
              </a:rPr>
              <a:t>A reward that helps rising cases can punish draining cases, and a reward that keeps action smooth can make downward corrections look slow or inactive.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FA090-D806-467C-BDB9-1B5404B6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This is why random average reward was not enough. Raising, draining, and already-at-reference cases had to be inspected separately.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8CBBE-FAD6-450D-9375-7B4804AF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exports and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820341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C3FA31-2B4B-43A4-BBA2-1A62C138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114FB-33D2-4243-8A2D-602716AF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runs: the best result depended on the slice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F9AD6-3EBC-493F-8A42-59CA668C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382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71DB4-5BCB-4FFC-8FBA-B4AF383B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812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Run 3, stage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534B6-74DD-47BA-91A3-3A2F5F7C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easy reset / strong shaping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33EAC-22AA-4F35-B3B5-F6077ADD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excellent local and at-reference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F177E-C82A-48C6-B49E-00F3E0E4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B7A"/>
                </a:solidFill>
                <a:latin typeface="Aptos"/>
                <a:ea typeface="Aptos"/>
                <a:cs typeface="Aptos"/>
              </a:rPr>
              <a:t>h0 = hRef = 5: Final MAE 0.0013, case cost 0.0973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889E7-668A-4EAE-B267-6D9ED81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10382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53D01-18E8-4B27-8CD7-E2B32942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004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Run 4, final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0BD3D-B9AF-4F70-8E1A-3E2A01F4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004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full reset / no shaping / low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B9EC2-2093-409B-BBB9-38A4363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23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better final-curriculum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FBF3B-E93C-4A03-BCD1-EB4FB698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96B7A"/>
                </a:solidFill>
                <a:latin typeface="Aptos"/>
                <a:ea typeface="Aptos"/>
                <a:cs typeface="Aptos"/>
              </a:rPr>
              <a:t>works well in many raising cases, but still weak for some draining/high-start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4E5B6-8503-4EFA-8501-2486033D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phrasing: there was no single clean 'solved' Water Tank agent. The best run depended on whether we cared about local precision, broad curriculum coverage, or asymmetric draining cases.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AD18A-A4BE-468E-96C7-6A5CA54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run 3 and run 4 allMetrics_prec4.csv</a:t>
            </a:r>
          </a:p>
        </p:txBody>
      </p:sp>
    </p:spTree>
    <p:extLst>
      <p:ext uri="{BB962C8B-B14F-4D97-AF65-F5344CB8AC3E}">
        <p14:creationId xmlns:p14="http://schemas.microsoft.com/office/powerpoint/2010/main" val="859876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43026D-89A7-4612-800B-7FDC725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553E2-BB96-4152-B6FD-E030F215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example: raising case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98240827f47a4"/>
          <a:stretch xmlns:a="http://schemas.openxmlformats.org/drawingml/2006/main"/>
        </p:blipFill>
        <p:spPr>
          <a:xfrm xmlns:a="http://schemas.openxmlformats.org/drawingml/2006/main">
            <a:off x="1855381" y="1333500"/>
            <a:ext cx="8328837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A515A-C873-43D3-A7F0-33428A99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62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Here the one-sided actuator helps: the agent can actively add water, then back off once the height is near the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45713-0133-4DF2-A4B4-097A6B73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run 4 exported trajectory: New_Export_positive.xlsx</a:t>
            </a:r>
          </a:p>
        </p:txBody>
      </p:sp>
    </p:spTree>
    <p:extLst>
      <p:ext uri="{BB962C8B-B14F-4D97-AF65-F5344CB8AC3E}">
        <p14:creationId xmlns:p14="http://schemas.microsoft.com/office/powerpoint/2010/main" val="409183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DE67D-0F5B-4909-825A-3BA3FFA8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0DDB6-1EB9-423E-930E-80044802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example: draining case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71d95e75f413e"/>
          <a:stretch xmlns:a="http://schemas.openxmlformats.org/drawingml/2006/main"/>
        </p:blipFill>
        <p:spPr>
          <a:xfrm xmlns:a="http://schemas.openxmlformats.org/drawingml/2006/main">
            <a:off x="1855381" y="1333500"/>
            <a:ext cx="8328837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3BE73-6EE3-4DCE-ADB7-0F2F608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626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Here the agent cannot actively drain. It mostly closes the inlet and waits, so reward shaping can easily treat a physical limitation as a policy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F5A1-17CC-4135-9A0D-E27587C8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run 4 exported trajectory: New_Export_negative.xlsx</a:t>
            </a:r>
          </a:p>
        </p:txBody>
      </p:sp>
    </p:spTree>
    <p:extLst>
      <p:ext uri="{BB962C8B-B14F-4D97-AF65-F5344CB8AC3E}">
        <p14:creationId xmlns:p14="http://schemas.microsoft.com/office/powerpoint/2010/main" val="7059560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E1F975-5B34-48DF-BC39-A4312821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7F0CE-8679-4DF0-B55C-E7B7F40C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Water Tank example: already at the reference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b73303fff4935"/>
          <a:stretch xmlns:a="http://schemas.openxmlformats.org/drawingml/2006/main"/>
        </p:blipFill>
        <p:spPr>
          <a:xfrm xmlns:a="http://schemas.openxmlformats.org/drawingml/2006/main">
            <a:off x="1912531" y="1381125"/>
            <a:ext cx="8328837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175E5-59FB-4B6A-AB6B-0FA9693D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This case explains why precision mattered: if the tank already starts at the target, the controller should avoid unnecessary action and not create its own transient.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46A07-2BF1-4BAE-B3C8-D0EEE99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run 3 stage 1 metrics; trajectory is a labeled sketch because this exact case was not exported</a:t>
            </a:r>
          </a:p>
        </p:txBody>
      </p:sp>
    </p:spTree>
    <p:extLst>
      <p:ext uri="{BB962C8B-B14F-4D97-AF65-F5344CB8AC3E}">
        <p14:creationId xmlns:p14="http://schemas.microsoft.com/office/powerpoint/2010/main" val="20183620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2143C-B927-49E7-8E74-40D0028A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3838A-1B88-473C-AEFD-B0003BDD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Why I moved away from Water Tank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03983-5B60-4F32-83AB-2DFD084C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74C96-CFAB-4ED7-9DEB-63E037EF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Every reward shape seemed to make one part of the grid better while making another part worse.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BDF0F-7365-4A6B-B140-44D045AA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ED008-BD27-41E5-8C33-E44F29D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one-direction actuator made the tradeoff especially visible: raising, draining, and already-at-reference behavior wanted different incentives.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0865E-5CB3-4F73-A047-748AC09F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C68F0-49D4-49DB-AB96-F09F07D1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project had already served its purpose as a workflow prototype: curriculum, reset design, reward scaling, fixed evaluation, saved artifacts.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0D6BD-0D42-406C-8129-06DB9509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289A5-E9DB-41D6-9EC8-84808F2E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was the real target system, so the Water Tank lessons were carried forward instead of spending the whole project tuning a toy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13ADC-6AF9-43EF-932F-85DC39CE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RL-Water-Tank README and curriculum docs</a:t>
            </a:r>
          </a:p>
        </p:txBody>
      </p:sp>
    </p:spTree>
    <p:extLst>
      <p:ext uri="{BB962C8B-B14F-4D97-AF65-F5344CB8AC3E}">
        <p14:creationId xmlns:p14="http://schemas.microsoft.com/office/powerpoint/2010/main" val="7773603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1C3F8-2DAF-44A5-A494-0A6736B8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8F4E6-3127-4EDF-A80F-01D89042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Furuta method search: what options were on the table?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4A36A-D0D3-43FB-93E1-3AD25258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6C0F0-6402-40A6-9FDA-9879F8D4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Analytical swing-up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B648B-F2B2-49D8-B448-E3CC6227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811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Energy control, Lyapunov/passivity, feedback linearization, optimal control. Strong control literature; useful baseline/context.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F6458-0CA7-46A6-AF0B-2DD2D99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C40E0-9C52-421B-B42C-83EF2F1B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Hybrid RL + classical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46990-B385-451B-AA4B-3DE3763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MathWorks QUBE Servo2 repo: SAC for swing-up, PPO for mode selection, feedback controller for balance.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FEDDE-9074-471C-B4E3-78B8B41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55A15-3A18-4849-B81B-4BB9641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Near-upright DDPG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73942-62FC-4526-8840-603006DF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First direct RL attempt: simplest continuous-action framing, but actor/critic training was fragile.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421C2-A498-4BF7-B19A-90341A0C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93398-8C56-4624-9919-54A00273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Direct TD3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235F4-2043-4F01-96F9-31CE504B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957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Kept the same normalized action idea but added twin critics, delayed actor updates, and target smoothing.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ECDB6-34CA-45C3-8463-3D23912F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0191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DA016-2E82-4908-855B-45C3F07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MathWorks-style TD3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1D2C5-9964-43EB-83B7-38DE2841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339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Later simplified toward the QUBE TD3 example: no curriculum, 200 Hz agent, sin/cos observations, large replay buffer.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D9D27-1EC2-4BCD-9C6A-F89D6748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Furuta swing-up literature note; MathWorks QUBE Servo2 refs; TD3 transition notes</a:t>
            </a:r>
          </a:p>
        </p:txBody>
      </p:sp>
    </p:spTree>
    <p:extLst>
      <p:ext uri="{BB962C8B-B14F-4D97-AF65-F5344CB8AC3E}">
        <p14:creationId xmlns:p14="http://schemas.microsoft.com/office/powerpoint/2010/main" val="11222758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85AAD-ED05-48AB-A2B9-28918E39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1A1F7-B3EE-4F9D-8A5F-DE79AD10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Early Furuta approach: good engineering, fragile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EF47A-68E7-47F1-831B-8D61B0F8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20151-6849-4036-AEC5-019090C5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621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Started conservatively with near-upright stabilization: controller-facing errors, normalized current/torque action, explicit safety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84E65-496E-4934-AA5B-DFEA2AE7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C4E7E-D217-4781-B50E-323A6530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Built fixed-case post-stage evaluation, reward-diagnosis logging, signal extraction, and result organization before chasing a big demo.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0C247-4196-41FE-B8EC-E0A4D1B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AC16B-B0F1-4317-BD9A-CCFB28BC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DDPG did not reliably learn even local balance; TD3 was better, but fixed evaluation still showed arm-limit failures and action oscillations.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3891D-ECF7-433F-BFA7-7D12A85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0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E00BD-D9B0-4A4C-A6D5-24E7A0C2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staged direct swing-up TD3 branch showed partial learning, but reward scale and arm management were still weak.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ED15B-B12B-4DE5-98BA-EF0294D0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AE4C3-752A-4DAD-9A34-DBDE913E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720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Drawback that changed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DD0CF-3BE4-48D0-B200-A93E3852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476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reward could look better than fixed-case control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3C3F9-11B3-4CE7-BD36-F19A97A2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docs/td3_transition_2026-06-10.md; docs/td3_overnight_results_2026-06-11.md; docs/direct_td3_stage1_results_2026-06-11.md</a:t>
            </a:r>
          </a:p>
        </p:txBody>
      </p:sp>
    </p:spTree>
    <p:extLst>
      <p:ext uri="{BB962C8B-B14F-4D97-AF65-F5344CB8AC3E}">
        <p14:creationId xmlns:p14="http://schemas.microsoft.com/office/powerpoint/2010/main" val="9035352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62ADA-877D-4149-8319-BD581968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9A3BA-D746-4656-A919-0DE21083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What changed: from fragile curriculum to MathWorks-style TD3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3BD23-742B-4085-95CE-E0443D2D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97DD4-ECB0-491F-9BAE-2864E02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Earlier staged direct TD3 helped debug reward and evaluation signals, but training was slow and fragile.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24EBB6-F8AC-4D98-A627-880E0E41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073AD-79AD-4504-97B1-2ECBB131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stronger path matches the MathWorks QUBE pattern more closely: no curriculum, TD3, 200 Hz agent sample time, 64-unit networks, async parallel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53149-A97E-42BD-908E-1ACAE3FC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337C3-C30D-4AD4-BC35-87CF0DC4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57625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big process improvement was fixed-case evaluation. Training reward and episode survival alone were misleading.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D535A-14CB-4B68-A312-FA7DA2E5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0005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F0C7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55A96-A0A8-492B-A134-FD2411BF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Reward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10443-58ED-4368-9A33-98774C8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5313D"/>
                </a:solidFill>
                <a:latin typeface="Aptos"/>
                <a:ea typeface="Aptos"/>
                <a:cs typeface="Aptos"/>
              </a:rPr>
              <a:t>survival reward - weighted angle, velocity, action, and action-smoothing costs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6FE9E-C880-4A36-B971-D5B00242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docs/direct_td3_stage1_results_2026-06-11.md; docs/mathworks_style_td3_runs_2026-06-16.md</a:t>
            </a:r>
          </a:p>
        </p:txBody>
      </p:sp>
    </p:spTree>
    <p:extLst>
      <p:ext uri="{BB962C8B-B14F-4D97-AF65-F5344CB8AC3E}">
        <p14:creationId xmlns:p14="http://schemas.microsoft.com/office/powerpoint/2010/main" val="10748107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2E28E-6332-4E24-A17D-A15AA2B6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AECF6-5C1A-4F56-ACD0-3DCCCF9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Evaluation matrix: 297 cases, but only four dimensions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DDE4F-8527-4535-B47E-B2F34493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AEAE0-FD1B-47EF-AA61-5F7E9E95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Arm offset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7425E-ADB4-4856-92B5-4017C15A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E4463-147D-4A35-A844-2B01C0D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-45, 0, +45 deg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990AE-A56C-4E5C-ADA6-2E9616B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A9B5-6AC0-4260-9587-A8AB0C90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Pendulum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B4614-2B89-443E-AF66-D6411503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11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94E19-FF75-402E-A0F3-EB95D42E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-180 to +180 deg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08CF5-4A92-4570-A136-A0AE99D6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FD389-F671-4597-96EB-E3CFBCD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Arm velocity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AF2A2-8558-4BF0-BBD1-0712388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39979-317D-4B84-B081-9B7E19CA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-5, 0, +5 rad/s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E72E2-FC1B-4D79-911C-40803F4D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145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386BC-1FB5-4FD1-A96E-7A70DA0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Pendulum velocity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44A15-A4AA-4227-B1EC-C00B590C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3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values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34900-B581-423D-A392-8032BD3A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96B7A"/>
                </a:solidFill>
                <a:latin typeface="Aptos"/>
                <a:ea typeface="Aptos"/>
                <a:cs typeface="Aptos"/>
              </a:rPr>
              <a:t>-10, 0, +10 rad/s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270B2-AB91-47A6-8E19-8674B687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24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3 x 11 x 3 x 3 = 297 fixed initial-condition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E6D94-543D-4800-96F8-13A352A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Easy/core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90EB0-C4FA-4F49-8405-758750E5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333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theta1 = 0, small theta2, low velocities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52780-1E0C-4458-9495-B8C649EE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Swing-up stress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D58D3-D35D-4693-AB40-EBC634E3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large theta2 errors, including downward starts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C2798-BFEC-4925-9B21-1909F6CC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Arm management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07389-433D-48C9-A7E5-DE00E85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same pendulum cases with +/-45 deg arm offset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44AF9-0DB4-4F60-8DE5-009EC090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91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Velocity stress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2B5ED3-3AC4-4EEC-9A69-755EEA7B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9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25313D"/>
                </a:solidFill>
                <a:latin typeface="Aptos"/>
                <a:ea typeface="Aptos"/>
                <a:cs typeface="Aptos"/>
              </a:rPr>
              <a:t>same angles with arm/pendulum initial momentum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5DA18-9B3B-4D19-97F4-7DAEC68C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full_eval_cases.csv for run_20260616_012625_td3_mathworks_style_wide</a:t>
            </a:r>
          </a:p>
        </p:txBody>
      </p:sp>
    </p:spTree>
    <p:extLst>
      <p:ext uri="{BB962C8B-B14F-4D97-AF65-F5344CB8AC3E}">
        <p14:creationId xmlns:p14="http://schemas.microsoft.com/office/powerpoint/2010/main" val="1816325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E2F8F-813A-4307-B439-15432C6C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398D4-041A-4DDB-9594-13C84CB6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Evaluation matrix is being upgraded for oscillation and energy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B942-C8AF-49B9-AC05-0D2C5767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6DD8D-7D44-4C79-80FB-B6F11E6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End theta2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3CF6F-3108-4C12-AE2F-F20ABEC8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Theta2EndPeakToPeak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Theta2EndOscFreqHz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7DD00-CAA7-445B-A3FC-45126442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F86EB-F05E-42EA-BE3D-63D5D3C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End action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1E966-45D3-47F2-86D7-FCD88F0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ActionEndOscRMS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ActionEndPeakToPeak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ActionEndOscFreqHz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ActionDiffRMS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9E869-9586-46BC-9879-02459C10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048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7471E-F77A-4F52-B41D-DD3B7505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Electrical effort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68513-99E0-4618-8D36-0BCB9103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ElectricalAbsEnergy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MeanAbsElectricalPower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3F2CB-26F8-4FAA-BB67-C00C8A6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Why this matters: the old summary could say a controller survived and ended near upright, while hiding small final oscillations, action chatter, or high electrical effort.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3C021-AAB3-44B1-A577-72B62CC6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578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Status: columns are now present in the PI/current analytical-active and Simscape-active rerun CSVs.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8959A-C2DD-4497-AB8B-961D199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scripts/computeFurutaMetrics.m; scripts/evaluateFurutaController.m</a:t>
            </a:r>
          </a:p>
        </p:txBody>
      </p:sp>
    </p:spTree>
    <p:extLst>
      <p:ext uri="{BB962C8B-B14F-4D97-AF65-F5344CB8AC3E}">
        <p14:creationId xmlns:p14="http://schemas.microsoft.com/office/powerpoint/2010/main" val="76365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3C33B-1F32-4EB9-8324-4376733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B17AE-D87A-4ACE-85C6-A1DBD125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result: usable, but not magic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8a30874e24045"/>
          <a:stretch xmlns:a="http://schemas.openxmlformats.org/drawingml/2006/main"/>
        </p:blipFill>
        <p:spPr>
          <a:xfrm xmlns:a="http://schemas.openxmlformats.org/drawingml/2006/main">
            <a:off x="2640419" y="1428750"/>
            <a:ext cx="691116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7EF85-DF50-48EE-ADE1-A29ECF3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143C9-BC1A-4DA2-B82B-6F2F403D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740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19A96-9EF2-4947-BB47-DCBA5E7D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Final average reward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18C2C-1A69-498E-AF0D-6F1E4C4C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episode 3000 snapshot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4F22A-F44A-4310-99C1-DE1FC22D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71071-0D5C-4E94-AC58-96264A5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43/50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82B06-C87C-4B4B-84D7-5DB28692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Last 50 full-length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D209B-3FEA-46C1-9E53-3E28EE91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late training stability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8BAC-44F3-46D4-9AB0-FCCE8BBA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E414F-BFC8-4301-BA7C-816E789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3000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C0694-DEED-4AE5-9748-51D5A5DF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Training episodes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725A2-65D1-4395-920F-6AAAA8CF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wide randomization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4509B-0075-4B3D-B549-A376A34F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86375"/>
            <a:ext cx="2381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7A6C1-95B7-47BF-8A32-CEAB71E6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5782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spiky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C91C4-4C64-4AF3-A7AC-2B7C61C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15025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32E2D-9B2A-4937-B74B-A5D2CB9D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531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825">
                <a:solidFill>
                  <a:srgbClr val="596B7A"/>
                </a:solidFill>
                <a:latin typeface="Aptos"/>
                <a:ea typeface="Aptos"/>
                <a:cs typeface="Aptos"/>
              </a:rPr>
              <a:t>occasional collapses remain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9D437-AE63-41C9-A4F9-F94F6D3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results/TD3/run_20260616_012625_td3_mathworks_style_wide/training_progress.csv</a:t>
            </a:r>
          </a:p>
        </p:txBody>
      </p:sp>
    </p:spTree>
    <p:extLst>
      <p:ext uri="{BB962C8B-B14F-4D97-AF65-F5344CB8AC3E}">
        <p14:creationId xmlns:p14="http://schemas.microsoft.com/office/powerpoint/2010/main" val="11540379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35817-8026-49D5-8093-F131B8B7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A495B-D8A5-4FBD-A190-2A0A3D7D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Best current controller: PI/current path TD3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5F6C7-1BD2-40FA-8B36-5DE807BB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CC798-317E-4CD8-9B80-3BCF2205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297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7B363-D3E0-4726-B76E-54A5BAB1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Full fixed 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81FC0-1C01-4563-BE79-6B78411D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initial-condition cases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A14A5-B661-461D-AD20-567EFED6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E4223-67D0-49BC-9878-3D45F43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14.48%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9F4B5-E605-4566-B0A5-93EB42C2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3BEA6-B70D-4B6C-9D18-C9C7A20B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43/297 cases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88AFB-21B6-43F8-BF98-CD94AEF6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676F9-4E22-4AF2-B3BF-3FB0162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0.35 deg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FB48A-067E-4403-9C68-B1B8FD1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Median final 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21A66-8D48-4C76-91D9-FA2C01D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tight when it succeeds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4A1E9-9A00-41AC-A2ED-5CE7BE2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62125"/>
            <a:ext cx="23812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DCEFB-1849-4FD7-8C61-7E63CCD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907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7.23 deg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487B2-5A39-4963-8951-AE187CC3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622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Mean final 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214D6-D836-49D0-8EAC-E7016467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96B7A"/>
                </a:solidFill>
                <a:latin typeface="Aptos"/>
                <a:ea typeface="Aptos"/>
                <a:cs typeface="Aptos"/>
              </a:rPr>
              <a:t>mean pulled by failures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b07a6d2224ee1"/>
          <a:stretch xmlns:a="http://schemas.openxmlformats.org/drawingml/2006/main"/>
        </p:blipFill>
        <p:spPr>
          <a:xfrm xmlns:a="http://schemas.openxmlformats.org/drawingml/2006/main">
            <a:off x="3393558" y="3333750"/>
            <a:ext cx="5404884" cy="29051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B403C-6672-418D-96FF-CE40C3FC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full_final_summary.csv and full_final_metrics.csv for run_20260616_012625_td3_mathworks_style_wide</a:t>
            </a:r>
          </a:p>
        </p:txBody>
      </p:sp>
    </p:spTree>
    <p:extLst>
      <p:ext uri="{BB962C8B-B14F-4D97-AF65-F5344CB8AC3E}">
        <p14:creationId xmlns:p14="http://schemas.microsoft.com/office/powerpoint/2010/main" val="764192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82CD0-83EE-464D-888E-362744E9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F4FAC-0638-4ED3-8206-889CE9D3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mode is specific: arm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2B92C-530F-43CF-88F1-A7F7B29D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5F6"/>
          </a:solidFill>
          <a:ln xmlns:a="http://schemas.openxmlformats.org/drawingml/2006/main" w="9525">
            <a:solidFill>
              <a:srgbClr val="ECC1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0E531-61D9-4808-93AB-8C471876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361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43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5B215-E1A5-4C76-8EB2-8A702D80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25313D"/>
                </a:solidFill>
                <a:latin typeface="Aptos"/>
                <a:ea typeface="Aptos"/>
                <a:cs typeface="Aptos"/>
              </a:rPr>
              <a:t>All were arm-angle limit failures. No pendulum-limit failures. No angular-velocity-limit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43FFD-D441-47E6-9A8A-63E8965B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BFC"/>
          </a:solidFill>
          <a:ln xmlns:a="http://schemas.openxmlformats.org/drawingml/2006/main" w="9525">
            <a:solidFill>
              <a:srgbClr val="BFD7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476E0-4CA3-49BC-B8E9-E8EEC98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4F6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4F6C"/>
                </a:solidFill>
                <a:latin typeface="Aptos"/>
                <a:ea typeface="Aptos"/>
                <a:cs typeface="Aptos"/>
              </a:rPr>
              <a:t>Exceedance margins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D1266-DF62-4AE0-BBDB-69365A03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min 0.012 deg</a:t>
            </a:r>
          </a:p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median 0.312 deg</a:t>
            </a:r>
          </a:p>
          <a:p xmlns:a="http://schemas.openxmlformats.org/drawingml/2006/main">
            <a:pPr>
              <a:defRPr sz="22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max 2.277 deg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1A179-82E7-4230-B0B5-F3A917F9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Interpretation: the controller can swing up and stabilize in many practical cases, but the objective still tolerates arm travel too much.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D3FF6-D2CE-4839-B29A-5CCEDF03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meeting handoff and full_final_metrics.csv</a:t>
            </a:r>
          </a:p>
        </p:txBody>
      </p:sp>
    </p:spTree>
    <p:extLst>
      <p:ext uri="{BB962C8B-B14F-4D97-AF65-F5344CB8AC3E}">
        <p14:creationId xmlns:p14="http://schemas.microsoft.com/office/powerpoint/2010/main" val="8517293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7840EA-AE5B-4CD2-98E0-E7613D9C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3558A-7857-4209-8663-B82331AB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Voltage command: quieter, but less robust on the analytical grid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62a1c95d64568"/>
          <a:stretch xmlns:a="http://schemas.openxmlformats.org/drawingml/2006/main"/>
        </p:blipFill>
        <p:spPr>
          <a:xfrm xmlns:a="http://schemas.openxmlformats.org/drawingml/2006/main">
            <a:off x="2069251" y="1314450"/>
            <a:ext cx="8063023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ADC58-04F5-438D-A09C-3FAB6955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Descriptive takeaway: PI/current covers more of the fixed grid. Voltage command removes almost all final theta2 oscillation in easy cases, but loses robustness on the broad analytical-active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FA7B5-06DE-4583-91C8-5A33DE3D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pi_current_analytical_active summaries; voltage_analytical_active_2 summaries</a:t>
            </a:r>
          </a:p>
        </p:txBody>
      </p:sp>
    </p:spTree>
    <p:extLst>
      <p:ext uri="{BB962C8B-B14F-4D97-AF65-F5344CB8AC3E}">
        <p14:creationId xmlns:p14="http://schemas.microsoft.com/office/powerpoint/2010/main" val="17528237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0E095C-09E3-460C-880A-D83E8072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14143-B76E-4FCB-B7EA-957EDC11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Matched analytical cases show the tradeoff directly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e351cd3664b9c"/>
          <a:stretch xmlns:a="http://schemas.openxmlformats.org/drawingml/2006/main"/>
        </p:blipFill>
        <p:spPr>
          <a:xfrm xmlns:a="http://schemas.openxmlformats.org/drawingml/2006/main">
            <a:off x="2069251" y="1285875"/>
            <a:ext cx="8063023" cy="4333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4C18C-BADD-4874-8B6A-7C08A031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293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theta0 = (0, 0): both survive, voltage is nearly motionless at the end. theta0 = (0, pi): PI/current survives with a small oscillation, voltage fails early.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D9B8C-D3AE-4184-8A10-69E271A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Source: full_final_metrics.csv rows with theta1=0, theta2 in {0, pi}, omega1=omega2=0</a:t>
            </a:r>
          </a:p>
        </p:txBody>
      </p:sp>
    </p:spTree>
    <p:extLst>
      <p:ext uri="{BB962C8B-B14F-4D97-AF65-F5344CB8AC3E}">
        <p14:creationId xmlns:p14="http://schemas.microsoft.com/office/powerpoint/2010/main" val="2694872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19F7EA-7D69-462B-826B-EC5748EC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AD979-9FDE-4938-9FAA-997564B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Plant mismatch is not just a voltage-path issue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5b22f55bf4992"/>
          <a:stretch xmlns:a="http://schemas.openxmlformats.org/drawingml/2006/main"/>
        </p:blipFill>
        <p:spPr>
          <a:xfrm xmlns:a="http://schemas.openxmlformats.org/drawingml/2006/main">
            <a:off x="2374605" y="1524000"/>
            <a:ext cx="7442791" cy="4000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96BE1-BB5E-4D1C-B002-78897FCE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95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Cautious conclusion: PI/current is robust on the analytical-active plant, but Simscape-active feedback collapses broad robustness. Direct voltage is still useful diagnostically, not yet as the winner.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A3F8E-64A2-438C-8355-62741D0E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PI/current analytical/Simscape rerun summaries; voltage analytical/Simscape summaries</a:t>
            </a:r>
          </a:p>
        </p:txBody>
      </p:sp>
    </p:spTree>
    <p:extLst>
      <p:ext uri="{BB962C8B-B14F-4D97-AF65-F5344CB8AC3E}">
        <p14:creationId xmlns:p14="http://schemas.microsoft.com/office/powerpoint/2010/main" val="9829771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CBB0A4-72B1-4209-9286-E0A117EE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404E1-0DB4-43BD-A3E7-8A57E0B8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PI/current rerun: analytical reproduces, Simscape collapses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F6216-0953-4F40-8625-E58A0ADD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Feedback plant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91ACA-58AA-42FA-80CF-BED51E33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Failure 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1E6D9-AD01-46B0-BF08-B272E1A7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Failures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6F7FF-72C3-42C6-871F-7FDD382A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64D2A-B849-4471-9969-5AE8C776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4D2E3-F14D-4676-8C1D-95D2EB2C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7650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CB99C-1D5B-420A-AD75-B4D398CF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4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Analytical-active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D2E46-13D1-4F67-A6CA-555D0C89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14.48% failure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2E4DE-F6F5-43C0-92C5-C2F54F9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43/297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56B40-BAD6-4358-869F-760DE07A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5DD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070A3-87C3-49AC-94EE-77834BD8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64C2C-A475-4CF0-A448-E08524FA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2476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3051E-E67E-4506-8016-F72DFEB4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52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Simscape-active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AF9A4-12A5-4601-900F-CBFB28D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52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86.53% failure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30520-63FB-4B1E-BEDB-1097AD8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52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257/297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394EB-884D-4E25-BFB3-7CB72A0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DD5AD-E3F3-4FBE-9A89-C22F175E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old PI/current result was effectively analytical-active; the explicit rerun reproduced it exactly.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969701-D2C9-40C4-B791-1FFA0E95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48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F9C80-AE0D-447F-AB4F-63BF0322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5313D"/>
                </a:solidFill>
                <a:latin typeface="Aptos"/>
                <a:ea typeface="Aptos"/>
                <a:cs typeface="Aptos"/>
              </a:rPr>
              <a:t>The smaller Simscape mean final theta2 MAE is misleading because most hard cases fail. Lead with failure rate and breakdown.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10EDEE-5892-434B-9FCA-D74B2728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722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149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1495B"/>
                </a:solidFill>
                <a:latin typeface="Aptos"/>
                <a:ea typeface="Aptos"/>
                <a:cs typeface="Aptos"/>
              </a:rPr>
              <a:t>Hardware note: this argues for plant/interface validation before hardware-oriented claims.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175935-30D7-4530-9339-C2AD8F1E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pi_current_analytical_active/full_final_summary.csv; pi_current_simscape_active/full_final_summary.csv</a:t>
            </a:r>
          </a:p>
        </p:txBody>
      </p:sp>
    </p:spTree>
    <p:extLst>
      <p:ext uri="{BB962C8B-B14F-4D97-AF65-F5344CB8AC3E}">
        <p14:creationId xmlns:p14="http://schemas.microsoft.com/office/powerpoint/2010/main" val="3880400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7E874-6495-4C9B-8715-E774981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9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B7A"/>
                </a:solidFill>
                <a:latin typeface="Aptos"/>
                <a:ea typeface="Aptos"/>
                <a:cs typeface="Aptos"/>
              </a:rPr>
              <a:t>FURUTA RL UPDATE | 2026-06-17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97599-0CA5-4290-920F-95C08EA5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New metrics clarify what changed and what did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13FC1-8C8B-4410-84BB-E011F337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B7D8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8EA72-330C-49F5-983C-1FFD3627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A9D8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A9D8F"/>
                </a:solidFill>
                <a:latin typeface="Aptos"/>
                <a:ea typeface="Aptos"/>
                <a:cs typeface="Aptos"/>
              </a:rPr>
              <a:t>Short/easy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2165D-CA52-4DBF-9161-4C082463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Analytical and Simscape are very similar: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Theta2EndOscRMS about 0.0067 rad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Theta2EndPeakToPeak about 0.02 rad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Oscillation frequency about 7 Hz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CF549-E046-4D21-8EDF-2DA6624E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8EB"/>
          </a:solidFill>
          <a:ln xmlns:a="http://schemas.openxmlformats.org/drawingml/2006/main" w="9525">
            <a:solidFill>
              <a:srgbClr val="ECD49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C3F55-AB0F-47A0-998D-A41CD1CF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2A54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2A541"/>
                </a:solidFill>
                <a:latin typeface="Aptos"/>
                <a:ea typeface="Aptos"/>
                <a:cs typeface="Aptos"/>
              </a:rPr>
              <a:t>Broad/full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4B7D1-B9CD-4189-B223-696A4A04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3905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Simscape-active fails much earlier/more often: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omega 5 rad/s: 66/66 failed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omega 10 rad/s: 188/198 failed</a:t>
            </a:r>
          </a:p>
          <a:p xmlns:a="http://schemas.openxmlformats.org/drawingml/2006/main">
            <a:pPr>
              <a:defRPr sz="1500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25313D"/>
                </a:solidFill>
                <a:latin typeface="Aptos"/>
                <a:ea typeface="Aptos"/>
                <a:cs typeface="Aptos"/>
              </a:rPr>
              <a:t>Failure rate is the headline.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03EA4-E5E5-4AA8-B837-BC610D19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3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313D"/>
                </a:solidFill>
                <a:latin typeface="Aptos"/>
                <a:ea typeface="Aptos"/>
                <a:cs typeface="Aptos"/>
              </a:rPr>
              <a:t>Meeting phrasing: the final-second oscillation metric says easy upright behavior transfers, but the full matrix says recovery robustness does not.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883BE-D421-4C19-A6E9-1B5A81A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7B8B9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7B8B99"/>
                </a:solidFill>
                <a:latin typeface="Aptos"/>
                <a:ea typeface="Aptos"/>
                <a:cs typeface="Aptos"/>
              </a:rPr>
              <a:t>Sources: PI/current analytical-active and Simscape-active rerun summaries; user-provided breakdown</a:t>
            </a:r>
          </a:p>
        </p:txBody>
      </p:sp>
    </p:spTree>
    <p:extLst>
      <p:ext uri="{BB962C8B-B14F-4D97-AF65-F5344CB8AC3E}">
        <p14:creationId xmlns:p14="http://schemas.microsoft.com/office/powerpoint/2010/main" val="971303464"/>
      </p:ext>
    </p:extLst>
  </p:cSld>
</p:sld>
</file>

<file path=ppt/theme/theme1.xml><?xml version="1.0" encoding="utf-8"?>
<a:theme xmlns:a="http://schemas.openxmlformats.org/drawingml/2006/main" name="ChatGPT">
  <a:themeElements>
    <a:clrScheme name="Furuta update">
      <a:dk1>
        <a:srgbClr val="000000"/>
      </a:dk1>
      <a:lt1>
        <a:srgbClr val="FFFFFF"/>
      </a:lt1>
      <a:dk2>
        <a:srgbClr val="25313D"/>
      </a:dk2>
      <a:lt2>
        <a:srgbClr val="E8EDF2"/>
      </a:lt2>
      <a:accent1>
        <a:srgbClr val="0B4F6C"/>
      </a:accent1>
      <a:accent2>
        <a:srgbClr val="2A9D8F"/>
      </a:accent2>
      <a:accent3>
        <a:srgbClr val="F2A541"/>
      </a:accent3>
      <a:accent4>
        <a:srgbClr val="D1495B"/>
      </a:accent4>
      <a:accent5>
        <a:srgbClr val="4BACC6"/>
      </a:accent5>
      <a:accent6>
        <a:srgbClr val="F79646"/>
      </a:accent6>
      <a:hlink>
        <a:srgbClr val="0B4F6C"/>
      </a:hlink>
      <a:folHlink>
        <a:srgbClr val="2A9D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uruta updat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2026-06-17T13:30:20.4150000Z</dcterms:created>
  <dcterms:modified xsi:type="dcterms:W3CDTF">2026-06-17T13:30:20.4150000Z</dcterms:modified>
</coreProperties>
</file>