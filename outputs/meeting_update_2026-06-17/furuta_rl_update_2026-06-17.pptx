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d660588f4b42e8" /><Relationship Type="http://schemas.openxmlformats.org/officeDocument/2006/relationships/extended-properties" Target="/docProps/app.xml" Id="R0b0dce02c4ed42b7" /><Relationship Type="http://schemas.openxmlformats.org/officeDocument/2006/relationships/officeDocument" Target="/ppt/presentation.xml" Id="R887a1372728b44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f27e45efbd4179"/>
  </p:sldMasterIdLst>
  <p:notesMasterIdLst>
    <p:notesMasterId xmlns:r="http://schemas.openxmlformats.org/officeDocument/2006/relationships" r:id="Rb0aa1e00a89b4d99"/>
  </p:notesMasterIdLst>
  <p:sldIdLst>
    <p:sldId xmlns:r="http://schemas.openxmlformats.org/officeDocument/2006/relationships" id="256" r:id="R0d4c3d7bd7514881"/>
    <p:sldId xmlns:r="http://schemas.openxmlformats.org/officeDocument/2006/relationships" id="257" r:id="Reda752182e98436f"/>
    <p:sldId xmlns:r="http://schemas.openxmlformats.org/officeDocument/2006/relationships" id="258" r:id="Rcc979c9384044de8"/>
    <p:sldId xmlns:r="http://schemas.openxmlformats.org/officeDocument/2006/relationships" id="259" r:id="Rb39525abe14f4d4b"/>
    <p:sldId xmlns:r="http://schemas.openxmlformats.org/officeDocument/2006/relationships" id="260" r:id="R49a07f28e78145a0"/>
    <p:sldId xmlns:r="http://schemas.openxmlformats.org/officeDocument/2006/relationships" id="261" r:id="R25c6d196e3e04c56"/>
    <p:sldId xmlns:r="http://schemas.openxmlformats.org/officeDocument/2006/relationships" id="262" r:id="Rb8df102b0f1c4d62"/>
    <p:sldId xmlns:r="http://schemas.openxmlformats.org/officeDocument/2006/relationships" id="263" r:id="R061738712e2e4d10"/>
    <p:sldId xmlns:r="http://schemas.openxmlformats.org/officeDocument/2006/relationships" id="264" r:id="Re0ccc376b0534277"/>
    <p:sldId xmlns:r="http://schemas.openxmlformats.org/officeDocument/2006/relationships" id="265" r:id="Ra35bd3fbcd124e08"/>
    <p:sldId xmlns:r="http://schemas.openxmlformats.org/officeDocument/2006/relationships" id="266" r:id="R15bc622eb33043ca"/>
    <p:sldId xmlns:r="http://schemas.openxmlformats.org/officeDocument/2006/relationships" id="267" r:id="Rf9fdaa1c0d5a4e40"/>
    <p:sldId xmlns:r="http://schemas.openxmlformats.org/officeDocument/2006/relationships" id="268" r:id="R057f839ec30c4768"/>
    <p:sldId xmlns:r="http://schemas.openxmlformats.org/officeDocument/2006/relationships" id="269" r:id="Rd508812ab8634009"/>
    <p:sldId xmlns:r="http://schemas.openxmlformats.org/officeDocument/2006/relationships" id="270" r:id="R32dd3c02e0b241b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d726c1480d45ad" /><Relationship Type="http://schemas.openxmlformats.org/officeDocument/2006/relationships/slideMaster" Target="/ppt/slideMasters/slideMaster1.xml" Id="Rd7f27e45efbd4179" /><Relationship Type="http://schemas.openxmlformats.org/officeDocument/2006/relationships/notesMaster" Target="/ppt/notesMasters/notesMaster1.xml" Id="Rb0aa1e00a89b4d99" /><Relationship Type="http://schemas.openxmlformats.org/officeDocument/2006/relationships/presProps" Target="/ppt/presProps.xml" Id="R6859661cf68f4945" /><Relationship Type="http://schemas.openxmlformats.org/officeDocument/2006/relationships/tableStyles" Target="/ppt/tableStyles.xml" Id="R9739891988c34bcf" /><Relationship Type="http://schemas.openxmlformats.org/officeDocument/2006/relationships/slide" Target="/ppt/slides/slide1.xml" Id="R0d4c3d7bd7514881" /><Relationship Type="http://schemas.openxmlformats.org/officeDocument/2006/relationships/slide" Target="/ppt/slides/slide2.xml" Id="Reda752182e98436f" /><Relationship Type="http://schemas.openxmlformats.org/officeDocument/2006/relationships/slide" Target="/ppt/slides/slide3.xml" Id="Rcc979c9384044de8" /><Relationship Type="http://schemas.openxmlformats.org/officeDocument/2006/relationships/slide" Target="/ppt/slides/slide4.xml" Id="Rb39525abe14f4d4b" /><Relationship Type="http://schemas.openxmlformats.org/officeDocument/2006/relationships/slide" Target="/ppt/slides/slide5.xml" Id="R49a07f28e78145a0" /><Relationship Type="http://schemas.openxmlformats.org/officeDocument/2006/relationships/slide" Target="/ppt/slides/slide6.xml" Id="R25c6d196e3e04c56" /><Relationship Type="http://schemas.openxmlformats.org/officeDocument/2006/relationships/slide" Target="/ppt/slides/slide7.xml" Id="Rb8df102b0f1c4d62" /><Relationship Type="http://schemas.openxmlformats.org/officeDocument/2006/relationships/slide" Target="/ppt/slides/slide8.xml" Id="R061738712e2e4d10" /><Relationship Type="http://schemas.openxmlformats.org/officeDocument/2006/relationships/slide" Target="/ppt/slides/slide9.xml" Id="Re0ccc376b0534277" /><Relationship Type="http://schemas.openxmlformats.org/officeDocument/2006/relationships/slide" Target="/ppt/slides/slide10.xml" Id="Ra35bd3fbcd124e08" /><Relationship Type="http://schemas.openxmlformats.org/officeDocument/2006/relationships/slide" Target="/ppt/slides/slide11.xml" Id="R15bc622eb33043ca" /><Relationship Type="http://schemas.openxmlformats.org/officeDocument/2006/relationships/slide" Target="/ppt/slides/slide12.xml" Id="Rf9fdaa1c0d5a4e40" /><Relationship Type="http://schemas.openxmlformats.org/officeDocument/2006/relationships/slide" Target="/ppt/slides/slide13.xml" Id="R057f839ec30c4768" /><Relationship Type="http://schemas.openxmlformats.org/officeDocument/2006/relationships/slide" Target="/ppt/slides/slide14.xml" Id="Rd508812ab8634009" /><Relationship Type="http://schemas.openxmlformats.org/officeDocument/2006/relationships/slide" Target="/ppt/slides/slide15.xml" Id="R32dd3c02e0b241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e4eb9c4ad249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Furuta update">
      <a:dk1>
        <a:srgbClr val="000000"/>
      </a:dk1>
      <a:lt1>
        <a:srgbClr val="FFFFFF"/>
      </a:lt1>
      <a:dk2>
        <a:srgbClr val="25313D"/>
      </a:dk2>
      <a:lt2>
        <a:srgbClr val="E8EDF2"/>
      </a:lt2>
      <a:accent1>
        <a:srgbClr val="0B4F6C"/>
      </a:accent1>
      <a:accent2>
        <a:srgbClr val="2A9D8F"/>
      </a:accent2>
      <a:accent3>
        <a:srgbClr val="F2A541"/>
      </a:accent3>
      <a:accent4>
        <a:srgbClr val="D1495B"/>
      </a:accent4>
      <a:accent5>
        <a:srgbClr val="4BACC6"/>
      </a:accent5>
      <a:accent6>
        <a:srgbClr val="F79646"/>
      </a:accent6>
      <a:hlink>
        <a:srgbClr val="0B4F6C"/>
      </a:hlink>
      <a:folHlink>
        <a:srgbClr val="2A9D8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uruta upda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96773dd48d4b24" /><Relationship Type="http://schemas.openxmlformats.org/officeDocument/2006/relationships/notesMaster" Target="/ppt/notesMasters/notesMaster1.xml" Id="R277e629151a64b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af615bd1444091" /><Relationship Type="http://schemas.openxmlformats.org/officeDocument/2006/relationships/notesMaster" Target="/ppt/notesMasters/notesMaster1.xml" Id="R478e8a34190442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139a862eaa4ac1" /><Relationship Type="http://schemas.openxmlformats.org/officeDocument/2006/relationships/notesMaster" Target="/ppt/notesMasters/notesMaster1.xml" Id="Re12c3e59f9a147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3c4cd8952647ef" /><Relationship Type="http://schemas.openxmlformats.org/officeDocument/2006/relationships/notesMaster" Target="/ppt/notesMasters/notesMaster1.xml" Id="R870de46b8ee142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ca621c51674f10" /><Relationship Type="http://schemas.openxmlformats.org/officeDocument/2006/relationships/notesMaster" Target="/ppt/notesMasters/notesMaster1.xml" Id="R541d52caa43f49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0d33297a8740d2" /><Relationship Type="http://schemas.openxmlformats.org/officeDocument/2006/relationships/notesMaster" Target="/ppt/notesMasters/notesMaster1.xml" Id="R9289d89661e249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c1fdbb16bf4d73" /><Relationship Type="http://schemas.openxmlformats.org/officeDocument/2006/relationships/notesMaster" Target="/ppt/notesMasters/notesMaster1.xml" Id="Re270a6b069de42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134cf94d5a4dca" /><Relationship Type="http://schemas.openxmlformats.org/officeDocument/2006/relationships/notesMaster" Target="/ppt/notesMasters/notesMaster1.xml" Id="R501c704cd03d48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f56ef82b2546be" /><Relationship Type="http://schemas.openxmlformats.org/officeDocument/2006/relationships/notesMaster" Target="/ppt/notesMasters/notesMaster1.xml" Id="R6d5e49497fdc42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289496d9ea48b9" /><Relationship Type="http://schemas.openxmlformats.org/officeDocument/2006/relationships/notesMaster" Target="/ppt/notesMasters/notesMaster1.xml" Id="Ra63a4e90427a438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c9911c4f8914dfa" /><Relationship Type="http://schemas.openxmlformats.org/officeDocument/2006/relationships/notesMaster" Target="/ppt/notesMasters/notesMaster1.xml" Id="R9232cb4736314bf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c2a3c339efa4b45" /><Relationship Type="http://schemas.openxmlformats.org/officeDocument/2006/relationships/notesMaster" Target="/ppt/notesMasters/notesMaster1.xml" Id="R5c31749e2fa342c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c0708a46884462f" /><Relationship Type="http://schemas.openxmlformats.org/officeDocument/2006/relationships/notesMaster" Target="/ppt/notesMasters/notesMaster1.xml" Id="R1081637491ad4c8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69215bc7bfd4dec" /><Relationship Type="http://schemas.openxmlformats.org/officeDocument/2006/relationships/notesMaster" Target="/ppt/notesMasters/notesMaster1.xml" Id="Re53019330fcd401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e568c4cd30f420c" /><Relationship Type="http://schemas.openxmlformats.org/officeDocument/2006/relationships/notesMaster" Target="/ppt/notesMasters/notesMaster1.xml" Id="Rf39bf0d1112841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naturally: this is not a victory-lap talk. The useful result is that the project moved from fragile training attempts to a controller we can actually evaluate and discuss scientifically.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mostly orientation. Say that the project has entered the evaluation and decision-gate phase.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bridge slide. The water tank work was valuable because it built the project discipline: staged difficulty, reward scaling, fixed evaluation, and organized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gives a natural-language explanation. The curriculum idea was not just copied blindly; it came from trying to make learning and evaluation scientifically staged.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to show that TD3 was a deliberate choice, not just the algorithm at hand. SAC/PPO hybrid was known, but it would have changed the architecture more radically.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'what I learned' slide. The early approach was not wasted: it uncovered signal, reward, timing, and evaluation problems.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dwell too long on the formula unless asked. The important point is that the setup became stable enough to learn, then the evaluation revealed what was still weak.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lets you avoid listing 297 cases. Say the matrix is a Cartesian product of four interpretable stress axes.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to explain the user's newest evaluation improvement. The key is the last-second window and detrending: separate bias from oscillation amplitude.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this is the first run that feels genuinely usable. But the late spikes remind us not to claim robustness just from training reward.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best positive result. Make the nuance clear: successful cases are often very good, but broad robustness is incomplete.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good informal slide. It turns the failure story from vague to actionable: reward and arm constraints need attention.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Phrase carefully: the new PI/current rerun proves the Simscape-active problem is not only caused by the voltage command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updated decision-gate slide. It replaces the pending rerun with the actual plant-mismatch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clean takeaway: the new metrics did their job by separating final oscillation behavior from broad robustness.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f5ea60faa349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2691f648dd4c9b" /><Relationship Type="http://schemas.openxmlformats.org/officeDocument/2006/relationships/slideLayout" Target="/ppt/slideLayouts/slideLayout1.xml" Id="R7ba3b28df9be40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a3b28df9be40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Furuta update">
      <a:dk1>
        <a:srgbClr val="000000"/>
      </a:dk1>
      <a:lt1>
        <a:srgbClr val="FFFFFF"/>
      </a:lt1>
      <a:dk2>
        <a:srgbClr val="25313D"/>
      </a:dk2>
      <a:lt2>
        <a:srgbClr val="E8EDF2"/>
      </a:lt2>
      <a:accent1>
        <a:srgbClr val="0B4F6C"/>
      </a:accent1>
      <a:accent2>
        <a:srgbClr val="2A9D8F"/>
      </a:accent2>
      <a:accent3>
        <a:srgbClr val="F2A541"/>
      </a:accent3>
      <a:accent4>
        <a:srgbClr val="D1495B"/>
      </a:accent4>
      <a:accent5>
        <a:srgbClr val="4BACC6"/>
      </a:accent5>
      <a:accent6>
        <a:srgbClr val="F79646"/>
      </a:accent6>
      <a:hlink>
        <a:srgbClr val="0B4F6C"/>
      </a:hlink>
      <a:folHlink>
        <a:srgbClr val="2A9D8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uruta upda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5c54c8885473e" /><Relationship Type="http://schemas.openxmlformats.org/officeDocument/2006/relationships/notesSlide" Target="/ppt/notesSlides/notesSlide1.xml" Id="Re04ed572953b4f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7e76a77d84c99" /><Relationship Type="http://schemas.openxmlformats.org/officeDocument/2006/relationships/notesSlide" Target="/ppt/notesSlides/notesSlide2.xml" Id="Rcaf96ee7f7b443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ba189af3f4a67" /><Relationship Type="http://schemas.openxmlformats.org/officeDocument/2006/relationships/notesSlide" Target="/ppt/notesSlides/notesSlide3.xml" Id="R416b2750bc1345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9346bc4664c87" /><Relationship Type="http://schemas.openxmlformats.org/officeDocument/2006/relationships/notesSlide" Target="/ppt/notesSlides/notesSlide4.xml" Id="R5d6e49d9b58f48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223b6e49e4475" /><Relationship Type="http://schemas.openxmlformats.org/officeDocument/2006/relationships/notesSlide" Target="/ppt/notesSlides/notesSlide5.xml" Id="R3a00dcd274ca48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36aaeb78b4d14" /><Relationship Type="http://schemas.openxmlformats.org/officeDocument/2006/relationships/notesSlide" Target="/ppt/notesSlides/notesSlide6.xml" Id="R487376184e9241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0e24c39484cf3" /><Relationship Type="http://schemas.openxmlformats.org/officeDocument/2006/relationships/notesSlide" Target="/ppt/notesSlides/notesSlide7.xml" Id="Re014a3c4dcab41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8152d2d7554cad" /><Relationship Type="http://schemas.openxmlformats.org/officeDocument/2006/relationships/notesSlide" Target="/ppt/notesSlides/notesSlide8.xml" Id="Rdcadd51626d34a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fac6c99194063" /><Relationship Type="http://schemas.openxmlformats.org/officeDocument/2006/relationships/notesSlide" Target="/ppt/notesSlides/notesSlide9.xml" Id="Rebb9ec30d30c4e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c2710caa64ada" /><Relationship Type="http://schemas.openxmlformats.org/officeDocument/2006/relationships/image" Target="/ppt/media/image.png" Id="R1adde7cd9d85463f" /><Relationship Type="http://schemas.openxmlformats.org/officeDocument/2006/relationships/notesSlide" Target="/ppt/notesSlides/notesSlide10.xml" Id="R1f659436a4124a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6a539904b4e28" /><Relationship Type="http://schemas.openxmlformats.org/officeDocument/2006/relationships/image" Target="/ppt/media/image2.png" Id="Rc5459d16b1c0498a" /><Relationship Type="http://schemas.openxmlformats.org/officeDocument/2006/relationships/notesSlide" Target="/ppt/notesSlides/notesSlide11.xml" Id="R7e02af7a606743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8d271c3e7470c" /><Relationship Type="http://schemas.openxmlformats.org/officeDocument/2006/relationships/notesSlide" Target="/ppt/notesSlides/notesSlide12.xml" Id="R858d5af9dd644fc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f7e4af72e141d7" /><Relationship Type="http://schemas.openxmlformats.org/officeDocument/2006/relationships/image" Target="/ppt/media/image3.png" Id="R8a9d6014a5414768" /><Relationship Type="http://schemas.openxmlformats.org/officeDocument/2006/relationships/notesSlide" Target="/ppt/notesSlides/notesSlide13.xml" Id="R54ab0c6cc44d464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8bc1338864e73" /><Relationship Type="http://schemas.openxmlformats.org/officeDocument/2006/relationships/notesSlide" Target="/ppt/notesSlides/notesSlide14.xml" Id="Rbfb409264a31488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ae07fdb8a4475" /><Relationship Type="http://schemas.openxmlformats.org/officeDocument/2006/relationships/notesSlide" Target="/ppt/notesSlides/notesSlide15.xml" Id="R2c04c4797a704d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7E7747-EA9B-4D91-A6FB-C9BB3695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914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Furuta inverted pendulum 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8348A-17B5-4A32-9917-E04663CD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1950">
                <a:solidFill>
                  <a:srgbClr val="596B7A"/>
                </a:solidFill>
                <a:latin typeface="Aptos"/>
                <a:ea typeface="Aptos"/>
                <a:cs typeface="Aptos"/>
              </a:rPr>
              <a:t>Update meeting: what worked, what did not, and what needs a careful dry run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007690-8030-4D6B-AAE5-6023712A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287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93C9B-6E82-4BC2-A8FC-4066B76C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Current honest headline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824D50-1B9F-4E16-808F-4DB62AE9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04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RL learned a useful swing-up/stabilization policy in simulation, but robustness and sim-to-real behavior depend strongly on reward design, actuator interface, and plant-model consistency.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BBE2E3-B522-4C9E-84BE-7FAA1908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Prepared from project notes and saved TD3 run artifacts</a:t>
            </a:r>
          </a:p>
        </p:txBody>
      </p:sp>
    </p:spTree>
    <p:extLst>
      <p:ext uri="{BB962C8B-B14F-4D97-AF65-F5344CB8AC3E}">
        <p14:creationId xmlns:p14="http://schemas.microsoft.com/office/powerpoint/2010/main" val="8787415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CD4841-63E4-4D95-A7E6-0F6DE7A6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3760A4-8B5F-4774-9B57-4C15D8DB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Where we are in the project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16DA16-FBDE-4BEA-8368-0785D3D7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2286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350E23-7844-4ACC-9ABC-3A98D2DA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Days 1-7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57730-3202-4A2F-B46E-0A0FDA6A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90850"/>
            <a:ext cx="190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5313D"/>
                </a:solidFill>
                <a:latin typeface="Aptos"/>
                <a:ea typeface="Aptos"/>
                <a:cs typeface="Aptos"/>
              </a:rPr>
              <a:t>Model, signals, simulation setup, baseline 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03A3E-78A4-4A2D-97D6-A22FDC95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38375"/>
            <a:ext cx="2286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A9B43B-143E-4621-B17B-95261745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76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Days 8-12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D7A395-03BE-4CD8-AAA0-E14B55A4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90850"/>
            <a:ext cx="190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5313D"/>
                </a:solidFill>
                <a:latin typeface="Aptos"/>
                <a:ea typeface="Aptos"/>
                <a:cs typeface="Aptos"/>
              </a:rPr>
              <a:t>RL training worked after moving away from the fragile curriculum 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971FBD-08B0-46C2-8B89-1DBF3E3C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2286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D5D9C7-D8FE-4BED-9FFD-D4AA86F6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Days 13-16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C06CDD-5993-4FE3-B71C-F24FFBFF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90850"/>
            <a:ext cx="190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5313D"/>
                </a:solidFill>
                <a:latin typeface="Aptos"/>
                <a:ea typeface="Aptos"/>
                <a:cs typeface="Aptos"/>
              </a:rPr>
              <a:t>Current phase: robustness, fixed evaluation, actuator and plant diagnostics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76C740-E554-4D99-92AB-D8E5F576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38375"/>
            <a:ext cx="2286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E365C2-561C-4A06-B836-1B509046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76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Days 17-20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C20556-098C-4F6D-A2FD-B049C594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90850"/>
            <a:ext cx="190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5313D"/>
                </a:solidFill>
                <a:latin typeface="Aptos"/>
                <a:ea typeface="Aptos"/>
                <a:cs typeface="Aptos"/>
              </a:rPr>
              <a:t>Meeting story, plots, demo choice, hardware dry-run preparation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91B04-B4B6-49BA-BA85-A8CC4B61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Meeting framing: show the controller as useful in simulation, not solved for hardware.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F42D78-5C73-48FA-AB7D-F0F1F727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Sources: meeting handoff, MathWorks-style TD3 notes, saved run CSVs</a:t>
            </a:r>
          </a:p>
        </p:txBody>
      </p:sp>
    </p:spTree>
    <p:extLst>
      <p:ext uri="{BB962C8B-B14F-4D97-AF65-F5344CB8AC3E}">
        <p14:creationId xmlns:p14="http://schemas.microsoft.com/office/powerpoint/2010/main" val="15725868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B99C5C-BDB0-4790-A89C-617C24E0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6DACA-0055-446C-B782-B15F0E6F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Before Furuta: the Water Tank project became the workflow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B6380-A18E-4B23-972E-61DC27C9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6D8E64-6CF8-4363-95FA-FB35B027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193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Base example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7269F-67FF-4449-A8F3-4386F5C5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5313D"/>
                </a:solidFill>
                <a:latin typeface="Aptos"/>
                <a:ea typeface="Aptos"/>
                <a:cs typeface="Aptos"/>
              </a:rPr>
              <a:t>Started from MathWorks rlwatertank DDPG: compact example, single training run, random starts.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3EE20-5589-4840-A366-AA2DB30F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9070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B7D8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F2FCBF-CF73-45A5-AF2C-F85C52EB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193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Curriculum version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A8565-3F90-4494-91DF-E0B2CF54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5313D"/>
                </a:solidFill>
                <a:latin typeface="Aptos"/>
                <a:ea typeface="Aptos"/>
                <a:cs typeface="Aptos"/>
              </a:rPr>
              <a:t>Extended it into four stages: local correction, medium transient, global robustness, precision fine-tuning.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68B353-729E-4074-BAE0-920BE1C4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0FB7BC-B838-4C6C-A091-9429385F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195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Reward lesson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2EC182-17F4-48B7-A058-59F71AF1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0055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5313D"/>
                </a:solidFill>
                <a:latin typeface="Aptos"/>
                <a:ea typeface="Aptos"/>
                <a:cs typeface="Aptos"/>
              </a:rPr>
              <a:t>Moved from tolerance-band success toward normalized tracking error, action effort, and action smoothness.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3DCE6A-0128-4883-AEA2-1A334309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9095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B7D8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9A6FAA-40E9-4A6A-8378-D9D049AA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195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Evaluation lesson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34FFE9-F4B0-4DE1-AA08-AE3F5175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0055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5313D"/>
                </a:solidFill>
                <a:latin typeface="Aptos"/>
                <a:ea typeface="Aptos"/>
                <a:cs typeface="Aptos"/>
              </a:rPr>
              <a:t>Saved per-stage artifacts and used fixed/deterministic evaluations so results were not dominated by random initial conditions.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162825-764D-4DC7-893E-A4CF0B34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7212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Carry-over to Furuta: define the task, shape the reset distribution, log the signals, and evaluate fixed cases before believing training reward.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C1DA97-E880-4816-9F8C-F00F529C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Sources: RL-Water-Tank README and curriculum docs; docs/chat_handoff_2026-06-09.md</a:t>
            </a:r>
          </a:p>
        </p:txBody>
      </p:sp>
    </p:spTree>
    <p:extLst>
      <p:ext uri="{BB962C8B-B14F-4D97-AF65-F5344CB8AC3E}">
        <p14:creationId xmlns:p14="http://schemas.microsoft.com/office/powerpoint/2010/main" val="16036524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F3D0B3-E6E2-43D9-9C4F-1565BA4D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C111F-447B-4454-9557-8B5B085D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Where the curriculum idea came from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6E0238-496E-4811-8955-41FBA58C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612F3D-4BF5-4B7A-9080-D3AE02FA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B7D8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376DC-C4EF-4CE3-965C-732258B7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8EB"/>
          </a:solidFill>
          <a:ln xmlns:a="http://schemas.openxmlformats.org/drawingml/2006/main" w="9525">
            <a:solidFill>
              <a:srgbClr val="ECD49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707C9-4093-4548-9C5E-BE920F93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145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Practical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DB48E-6966-4AE8-9E0A-699F343F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19375"/>
            <a:ext cx="24288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Water Tank: learn small corrections first, then widen the initial-condition distribution and reduce exploration for precision.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3120E2-8EE1-464F-A0E4-03705999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1145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Control reason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ABF405-2D2B-4A44-A7D1-EF67EA32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619375"/>
            <a:ext cx="24288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A nonlinear controller should not be judged only on random starts. Each stage should answer a narrower control question.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6DF68-1608-4F58-B8A0-764D7AE9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145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A54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A541"/>
                </a:solidFill>
                <a:latin typeface="Aptos"/>
                <a:ea typeface="Aptos"/>
                <a:cs typeface="Aptos"/>
              </a:rPr>
              <a:t>Pendulum transfer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A5FFAA-342F-41DC-853A-A2812598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19375"/>
            <a:ext cx="24288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For Furuta, the natural curriculum was angle/velocity range: near-upright balance, medium recovery, large-angle recovery, full swing-up.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DE9FD1-556E-46B2-AAAD-77C4786B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67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7B0432-7E27-454C-A2FF-974B52FC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911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5313D"/>
                </a:solidFill>
                <a:latin typeface="Aptos"/>
                <a:ea typeface="Aptos"/>
                <a:cs typeface="Aptos"/>
              </a:rPr>
              <a:t>Important lesson: if the reward or reset distribution changes a lot, old replay/critic information can become misleading.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A9B27D-5D20-47BA-9067-77006A64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Sources: RL-Water-Tank curriculum docs; docs/rl_task_definition.md; docs/direct_td3_swingup_plan_2026-06-11.md</a:t>
            </a:r>
          </a:p>
        </p:txBody>
      </p:sp>
    </p:spTree>
    <p:extLst>
      <p:ext uri="{BB962C8B-B14F-4D97-AF65-F5344CB8AC3E}">
        <p14:creationId xmlns:p14="http://schemas.microsoft.com/office/powerpoint/2010/main" val="21030241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0EC717-E408-4B26-8A5C-999C9861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16E8C-4F96-4148-8E2A-A3F5741F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Furuta method search: what options were on the table?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A39B3-3031-41DE-A193-6A8F5AF1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10191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61E1B-20BA-4F0B-A4E0-306F3BF3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Analytical swing-up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D395BF-7740-426D-85BC-CE9FC452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8117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5313D"/>
                </a:solidFill>
                <a:latin typeface="Aptos"/>
                <a:ea typeface="Aptos"/>
                <a:cs typeface="Aptos"/>
              </a:rPr>
              <a:t>Energy control, Lyapunov/passivity, feedback linearization, optimal control. Strong control literature; useful baseline/context.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EDC4A6-5575-4A10-9B5F-C62BFEE9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10191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AA2F17-4E5F-4676-9C79-167121BF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Hybrid RL + classical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B000DE-4064-4925-9ABE-8799D54A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1937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5313D"/>
                </a:solidFill>
                <a:latin typeface="Aptos"/>
                <a:ea typeface="Aptos"/>
                <a:cs typeface="Aptos"/>
              </a:rPr>
              <a:t>MathWorks QUBE Servo2 repo: SAC for swing-up, PPO for mode selection, feedback controller for balance.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11CD6-63DB-4A20-8772-D91B54AE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10191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BB29F6-25E5-4DF7-94F5-F13AA62D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86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Near-upright DDPG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92608-3298-4D95-97A2-371D4B4B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5757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5313D"/>
                </a:solidFill>
                <a:latin typeface="Aptos"/>
                <a:ea typeface="Aptos"/>
                <a:cs typeface="Aptos"/>
              </a:rPr>
              <a:t>First direct RL attempt: simplest continuous-action framing, but actor/critic training was fragile.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934391-2FE4-4410-AD78-C59C1A29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10191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A66E56-74D9-42B9-BE70-A079F164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24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Direct TD3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8948C8-76A8-40E6-A208-A1407D50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9577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5313D"/>
                </a:solidFill>
                <a:latin typeface="Aptos"/>
                <a:ea typeface="Aptos"/>
                <a:cs typeface="Aptos"/>
              </a:rPr>
              <a:t>Kept the same normalized action idea but added twin critics, delayed actor updates, and target smoothing.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792B66-F3EB-4603-9E01-8A533ACB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10191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A3F03B-BE4F-4860-9B71-461B23A6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62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MathWorks-style TD3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AD65D4-7C93-4C31-9A88-0BF9C99A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3397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5313D"/>
                </a:solidFill>
                <a:latin typeface="Aptos"/>
                <a:ea typeface="Aptos"/>
                <a:cs typeface="Aptos"/>
              </a:rPr>
              <a:t>Later simplified toward the QUBE TD3 example: no curriculum, 200 Hz agent, sin/cos observations, large replay buffer.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D5471B-291D-46E0-8288-F035A773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Sources: Furuta swing-up literature note; MathWorks QUBE Servo2 refs; TD3 transition notes</a:t>
            </a:r>
          </a:p>
        </p:txBody>
      </p:sp>
    </p:spTree>
    <p:extLst>
      <p:ext uri="{BB962C8B-B14F-4D97-AF65-F5344CB8AC3E}">
        <p14:creationId xmlns:p14="http://schemas.microsoft.com/office/powerpoint/2010/main" val="9927675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69F4C0-F6A8-4805-90B8-FAFF4C2E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9B125-45AC-435E-A26F-A07DFCA4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Early Furuta approach: good engineering, fragile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642F5-AFDB-4D48-A26F-1A49BEE0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38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CC5E7-2F1C-4AE0-B64E-266DD944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62125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5313D"/>
                </a:solidFill>
                <a:latin typeface="Aptos"/>
                <a:ea typeface="Aptos"/>
                <a:cs typeface="Aptos"/>
              </a:rPr>
              <a:t>Started conservatively with near-upright stabilization: controller-facing errors, normalized current/torque action, explicit safety limits.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B9A7F-CE91-4D0C-95A6-C8CD798E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95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FF5ACD-AAE8-46D0-8684-2171B95C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5313D"/>
                </a:solidFill>
                <a:latin typeface="Aptos"/>
                <a:ea typeface="Aptos"/>
                <a:cs typeface="Aptos"/>
              </a:rPr>
              <a:t>Built fixed-case post-stage evaluation, reward-diagnosis logging, signal extraction, and result organization before chasing a big demo.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FCB41-524D-4B6B-8E31-FD60612E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52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779FAB-2054-4CBC-968F-0702F3B3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76625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5313D"/>
                </a:solidFill>
                <a:latin typeface="Aptos"/>
                <a:ea typeface="Aptos"/>
                <a:cs typeface="Aptos"/>
              </a:rPr>
              <a:t>DDPG did not reliably learn even local balance; TD3 was better, but fixed evaluation still showed arm-limit failures and action oscillations.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EDA4E3-7757-45E5-BC4C-1F2185FF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0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B1E93A-2ED1-4FF2-960B-2FA0D107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33875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5313D"/>
                </a:solidFill>
                <a:latin typeface="Aptos"/>
                <a:ea typeface="Aptos"/>
                <a:cs typeface="Aptos"/>
              </a:rPr>
              <a:t>The staged direct swing-up TD3 branch showed partial learning, but reward scale and arm management were still weak.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02C14F-8FAC-4A3F-9D37-763BC3E3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53000"/>
            <a:ext cx="4000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5F6"/>
          </a:solidFill>
          <a:ln xmlns:a="http://schemas.openxmlformats.org/drawingml/2006/main" w="9525">
            <a:solidFill>
              <a:srgbClr val="ECC1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9B543F-3251-4C4F-BACF-A281371B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1720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149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1495B"/>
                </a:solidFill>
                <a:latin typeface="Aptos"/>
                <a:ea typeface="Aptos"/>
                <a:cs typeface="Aptos"/>
              </a:rPr>
              <a:t>Drawback that changed direction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03789D-FB04-4DBF-812C-D776EAD3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47687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5313D"/>
                </a:solidFill>
                <a:latin typeface="Aptos"/>
                <a:ea typeface="Aptos"/>
                <a:cs typeface="Aptos"/>
              </a:rPr>
              <a:t>Training reward could look better than fixed-case control quality.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A3A685-A8F0-4A5A-97DA-0E99D2E6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Sources: docs/td3_transition_2026-06-10.md; docs/td3_overnight_results_2026-06-11.md; docs/direct_td3_stage1_results_2026-06-11.md</a:t>
            </a:r>
          </a:p>
        </p:txBody>
      </p:sp>
    </p:spTree>
    <p:extLst>
      <p:ext uri="{BB962C8B-B14F-4D97-AF65-F5344CB8AC3E}">
        <p14:creationId xmlns:p14="http://schemas.microsoft.com/office/powerpoint/2010/main" val="17805712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06B3AC-4E84-4402-AA01-6D9F406C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931ED2-6762-422A-A999-ABF163A6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What changed: from fragile curriculum to MathWorks-style TD3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F5A17-C618-463C-89EB-82F74A0D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28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C7BFE-1156-4E01-83B6-BD911FB8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52625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5313D"/>
                </a:solidFill>
                <a:latin typeface="Aptos"/>
                <a:ea typeface="Aptos"/>
                <a:cs typeface="Aptos"/>
              </a:rPr>
              <a:t>Earlier staged direct TD3 helped debug reward and evaluation signals, but training was slow and fragile.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0B528-4135-4254-BDBC-6299FCBB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86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CC791-1A2C-48A8-8C36-435B6D1B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9875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5313D"/>
                </a:solidFill>
                <a:latin typeface="Aptos"/>
                <a:ea typeface="Aptos"/>
                <a:cs typeface="Aptos"/>
              </a:rPr>
              <a:t>The stronger path matches the MathWorks QUBE pattern more closely: no curriculum, TD3, 200 Hz agent sample time, 64-unit networks, async parallel training.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59F76-6BE9-42BE-B7CF-40A92865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33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753C78-562B-4CA9-9C75-12529677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57625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5313D"/>
                </a:solidFill>
                <a:latin typeface="Aptos"/>
                <a:ea typeface="Aptos"/>
                <a:cs typeface="Aptos"/>
              </a:rPr>
              <a:t>The big process improvement was fixed-case evaluation. Training reward and episode survival alone were misleading.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3CFBE2-DA6E-403F-9C0E-DE4758D9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24375"/>
            <a:ext cx="4000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8EB"/>
          </a:solidFill>
          <a:ln xmlns:a="http://schemas.openxmlformats.org/drawingml/2006/main" w="9525">
            <a:solidFill>
              <a:srgbClr val="F0C7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C1CB17-C554-47A4-AFDF-C64CB314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625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A54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A541"/>
                </a:solidFill>
                <a:latin typeface="Aptos"/>
                <a:ea typeface="Aptos"/>
                <a:cs typeface="Aptos"/>
              </a:rPr>
              <a:t>Reward idea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598B08-96C5-4743-A52A-FF1780E2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1054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5313D"/>
                </a:solidFill>
                <a:latin typeface="Aptos"/>
                <a:ea typeface="Aptos"/>
                <a:cs typeface="Aptos"/>
              </a:rPr>
              <a:t>survival reward - weighted angle, velocity, action, and action-smoothing costs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45D5F7-0C5B-4E17-84E1-228C9AAA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Sources: docs/direct_td3_stage1_results_2026-06-11.md; docs/mathworks_style_td3_runs_2026-06-16.md</a:t>
            </a:r>
          </a:p>
        </p:txBody>
      </p:sp>
    </p:spTree>
    <p:extLst>
      <p:ext uri="{BB962C8B-B14F-4D97-AF65-F5344CB8AC3E}">
        <p14:creationId xmlns:p14="http://schemas.microsoft.com/office/powerpoint/2010/main" val="10409845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4797D8-E122-4FFC-8925-26205F46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FC935-E1A3-4BCF-AC07-5375F4C0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Evaluation matrix: 297 cases, but only four dimensions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3772D-E50B-443C-BDA5-2E6646B8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E62F6-B31D-4C1E-AE3F-90EBB25F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Arm offset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6EDD4-EF4B-4C80-9C25-27414830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3 values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45E15-F1AE-4464-8BD9-1CCA3D92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96B7A"/>
                </a:solidFill>
                <a:latin typeface="Aptos"/>
                <a:ea typeface="Aptos"/>
                <a:cs typeface="Aptos"/>
              </a:rPr>
              <a:t>-45, 0, +45 deg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DE145A-38B0-469B-9AD2-3FABC37A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71450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3E86CA-029B-40DE-AC5E-50E576B7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526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Pendulum error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E70EA6-038A-4BF8-83A4-2AA29C93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336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11 values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6E8ED0-C559-4D86-BEFA-D204DE19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81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96B7A"/>
                </a:solidFill>
                <a:latin typeface="Aptos"/>
                <a:ea typeface="Aptos"/>
                <a:cs typeface="Aptos"/>
              </a:rPr>
              <a:t>-180 to +180 deg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AAA19D-F263-4B5E-A4AB-7CD5603C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1450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1D2846-94EF-4FBE-AFCF-213AC630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526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A54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A541"/>
                </a:solidFill>
                <a:latin typeface="Aptos"/>
                <a:ea typeface="Aptos"/>
                <a:cs typeface="Aptos"/>
              </a:rPr>
              <a:t>Arm velocity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E24145-1124-4EF0-B898-52368043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336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3 values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C17E71-49DE-491E-8CF3-95889C59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81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96B7A"/>
                </a:solidFill>
                <a:latin typeface="Aptos"/>
                <a:ea typeface="Aptos"/>
                <a:cs typeface="Aptos"/>
              </a:rPr>
              <a:t>-5, 0, +5 rad/s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19FE5E-9CD3-458A-A377-FFD86653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1450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C8C852-DDB1-4244-BA7F-40A6970D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9526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1495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1495B"/>
                </a:solidFill>
                <a:latin typeface="Aptos"/>
                <a:ea typeface="Aptos"/>
                <a:cs typeface="Aptos"/>
              </a:rPr>
              <a:t>Pendulum velocity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0B327B-78E3-48FA-9C32-167AD611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336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3 values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3E5549-1F11-4960-A4E9-87771A8D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81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96B7A"/>
                </a:solidFill>
                <a:latin typeface="Aptos"/>
                <a:ea typeface="Aptos"/>
                <a:cs typeface="Aptos"/>
              </a:rPr>
              <a:t>-10, 0, +10 rad/s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D69B73-0112-4BE5-BB87-ADB8674D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242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3 x 11 x 3 x 3 = 297 fixed initial-condition cases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CE835E-7F9A-48DD-A9D3-0349F5B9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338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Easy/core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E23595-25B2-4B57-B07A-79F55922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3338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5313D"/>
                </a:solidFill>
                <a:latin typeface="Aptos"/>
                <a:ea typeface="Aptos"/>
                <a:cs typeface="Aptos"/>
              </a:rPr>
              <a:t>theta1 = 0, small theta2, low velocities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6C076E-37BB-4213-8284-E2A20005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338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Swing-up stress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BBB04F-5F19-4ADE-B3AB-F307FF25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3338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5313D"/>
                </a:solidFill>
                <a:latin typeface="Aptos"/>
                <a:ea typeface="Aptos"/>
                <a:cs typeface="Aptos"/>
              </a:rPr>
              <a:t>large theta2 errors, including downward starts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658495-0E2C-4174-8A9F-08324131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1911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Arm management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B4A05C-36FC-49E5-99BD-2294BB28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1911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5313D"/>
                </a:solidFill>
                <a:latin typeface="Aptos"/>
                <a:ea typeface="Aptos"/>
                <a:cs typeface="Aptos"/>
              </a:rPr>
              <a:t>same pendulum cases with +/-45 deg arm offset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550430-E834-46BB-B8A4-005E73AE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1911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Velocity stress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B127ED-C095-47F2-BB37-C61AE4FA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1911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5313D"/>
                </a:solidFill>
                <a:latin typeface="Aptos"/>
                <a:ea typeface="Aptos"/>
                <a:cs typeface="Aptos"/>
              </a:rPr>
              <a:t>same angles with arm/pendulum initial momentum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730903-7C4C-4259-8149-17D5B90C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Source: full_eval_cases.csv for run_20260616_012625_td3_mathworks_style_wide</a:t>
            </a:r>
          </a:p>
        </p:txBody>
      </p:sp>
    </p:spTree>
    <p:extLst>
      <p:ext uri="{BB962C8B-B14F-4D97-AF65-F5344CB8AC3E}">
        <p14:creationId xmlns:p14="http://schemas.microsoft.com/office/powerpoint/2010/main" val="8491107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D0999C-5048-4580-87DD-0A905B28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812FE-0B74-45D7-B76D-14E9CB3E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Evaluation matrix is being upgraded for oscillation and energy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28CAFB-DDC4-4420-B44B-349CF09C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3048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4B68D-12C8-4513-9244-5C2696C3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14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End theta2 behavior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6B28E-14DD-4FB4-AEB1-442C37D8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Theta2EndRMS</a:t>
            </a:r>
          </a:p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Theta2EndOscRMS</a:t>
            </a:r>
          </a:p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Theta2EndPeakToPeak</a:t>
            </a:r>
          </a:p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Theta2EndOscFreqHz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85D7A4-2959-4C3E-AB89-7AE8A7E3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09750"/>
            <a:ext cx="3048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8AD9D-B88E-41EA-9AC3-963AD09A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14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End action behavior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37BEB-6DFA-477A-AACB-6D0E717D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86050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ActionEndRMS</a:t>
            </a:r>
          </a:p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ActionEndOscRMS</a:t>
            </a:r>
          </a:p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ActionEndPeakToPeak</a:t>
            </a:r>
          </a:p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ActionEndOscFreqHz</a:t>
            </a:r>
          </a:p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ActionDiffRMS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C95829-E549-44B9-9598-7F3ABCEB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048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8E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B76E8F-88F2-4A2D-AFC8-9FD555D2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A54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2A541"/>
                </a:solidFill>
                <a:latin typeface="Aptos"/>
                <a:ea typeface="Aptos"/>
                <a:cs typeface="Aptos"/>
              </a:rPr>
              <a:t>Electrical effort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3AC113-0816-4DFA-BFD0-053C6F6E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86050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ElectricalAbsEnergy</a:t>
            </a:r>
          </a:p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MeanAbsElectricalPower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191780-FB3F-4331-9946-93F60DEF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Why this matters: the old summary could say a controller survived and ended near upright, while hiding small final oscillations, action chatter, or high electrical effort.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1F1EEF-24B4-420A-B521-3DD660F1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578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149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1495B"/>
                </a:solidFill>
                <a:latin typeface="Aptos"/>
                <a:ea typeface="Aptos"/>
                <a:cs typeface="Aptos"/>
              </a:rPr>
              <a:t>Status: columns are now present in the PI/current analytical-active and Simscape-active rerun CSVs.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6D37F8-67D4-4AC2-85BE-D2372F57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Sources: scripts/computeFurutaMetrics.m; scripts/evaluateFurutaController.m</a:t>
            </a:r>
          </a:p>
        </p:txBody>
      </p:sp>
    </p:spTree>
    <p:extLst>
      <p:ext uri="{BB962C8B-B14F-4D97-AF65-F5344CB8AC3E}">
        <p14:creationId xmlns:p14="http://schemas.microsoft.com/office/powerpoint/2010/main" val="1682048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C97F5A-DBD3-44B1-8A00-E12AF5A9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01179-9470-4309-B85E-1811B4E8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Training result: usable, but not magic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dde7cd9d85463f"/>
          <a:stretch xmlns:a="http://schemas.openxmlformats.org/drawingml/2006/main"/>
        </p:blipFill>
        <p:spPr>
          <a:xfrm xmlns:a="http://schemas.openxmlformats.org/drawingml/2006/main">
            <a:off x="2640419" y="1428750"/>
            <a:ext cx="6911163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4413A5-17AA-4907-A00A-C733AFE6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86375"/>
            <a:ext cx="2381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227B61-6062-4768-8271-F54B9F83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5782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740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9E9A9-1FD5-42F7-8486-CE72D6D2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915025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Final average reward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2ED78-D34C-4C44-8BA8-254CB202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1531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596B7A"/>
                </a:solidFill>
                <a:latin typeface="Aptos"/>
                <a:ea typeface="Aptos"/>
                <a:cs typeface="Aptos"/>
              </a:rPr>
              <a:t>episode 3000 snapshot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F1BF36-F495-48E2-80E4-66879D61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286375"/>
            <a:ext cx="2381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5E25A8-3CFE-49E5-A980-46457E62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45782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43/50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A74D6D-852E-4029-85A6-580C436E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915025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Last 50 full-length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F3F6DD-5471-4261-8722-3F985396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1531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596B7A"/>
                </a:solidFill>
                <a:latin typeface="Aptos"/>
                <a:ea typeface="Aptos"/>
                <a:cs typeface="Aptos"/>
              </a:rPr>
              <a:t>late training stability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C7363F-930E-432F-9714-3A9F107B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86375"/>
            <a:ext cx="2381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4E519F-FB21-4D7D-8196-B94E61F8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45782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2A541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2A541"/>
                </a:solidFill>
                <a:latin typeface="Aptos"/>
                <a:ea typeface="Aptos"/>
                <a:cs typeface="Aptos"/>
              </a:rPr>
              <a:t>3000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DB4D3C-6050-4B82-B3A5-E90A7798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915025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Training episodes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33511A-6DA6-4D65-9074-7D451F18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61531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596B7A"/>
                </a:solidFill>
                <a:latin typeface="Aptos"/>
                <a:ea typeface="Aptos"/>
                <a:cs typeface="Aptos"/>
              </a:rPr>
              <a:t>wide randomization run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7E5A2C-CE8B-4FC8-BA96-A6CE605D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286375"/>
            <a:ext cx="2381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1EB680-F1A2-4259-9848-14659C0B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45782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D1495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D1495B"/>
                </a:solidFill>
                <a:latin typeface="Aptos"/>
                <a:ea typeface="Aptos"/>
                <a:cs typeface="Aptos"/>
              </a:rPr>
              <a:t>spiky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9B0ADB-8E34-4DA4-B48C-AE90C671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915025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Main caveat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17EC03-4719-48B0-ADFB-74FB8E27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1531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596B7A"/>
                </a:solidFill>
                <a:latin typeface="Aptos"/>
                <a:ea typeface="Aptos"/>
                <a:cs typeface="Aptos"/>
              </a:rPr>
              <a:t>occasional collapses remain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775A2B-9B30-4659-8EA3-EC52BCD6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Source: results/TD3/run_20260616_012625_td3_mathworks_style_wide/training_progress.csv</a:t>
            </a:r>
          </a:p>
        </p:txBody>
      </p:sp>
    </p:spTree>
    <p:extLst>
      <p:ext uri="{BB962C8B-B14F-4D97-AF65-F5344CB8AC3E}">
        <p14:creationId xmlns:p14="http://schemas.microsoft.com/office/powerpoint/2010/main" val="7426852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BB28FE-E49C-4D1A-B2D7-20E004E8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A7845-95C9-42DD-9EDD-5EA5D841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Best current controller: PI/current path TD3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8FA8B-C3E2-498D-BD63-2C1F9909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3812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291FB-215B-413D-8AC3-EFE6C241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90725"/>
            <a:ext cx="1924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297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7A4B95-0908-43BE-9EF6-E3BE32E2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622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Full fixed eval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D803C-CF65-48E6-80EF-6C030F35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28925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96B7A"/>
                </a:solidFill>
                <a:latin typeface="Aptos"/>
                <a:ea typeface="Aptos"/>
                <a:cs typeface="Aptos"/>
              </a:rPr>
              <a:t>initial-condition cases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B236F-66FB-4024-8363-47C87C36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62125"/>
            <a:ext cx="23812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26DCC-E585-4687-BEE6-A16B3E14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90725"/>
            <a:ext cx="1924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D1495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D1495B"/>
                </a:solidFill>
                <a:latin typeface="Aptos"/>
                <a:ea typeface="Aptos"/>
                <a:cs typeface="Aptos"/>
              </a:rPr>
              <a:t>14.48%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5D4E37-D3C6-45B1-A5D2-EDA7F9F8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622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Failure 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CCEF00-7DAB-4112-91D5-A7C57021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28925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96B7A"/>
                </a:solidFill>
                <a:latin typeface="Aptos"/>
                <a:ea typeface="Aptos"/>
                <a:cs typeface="Aptos"/>
              </a:rPr>
              <a:t>43/297 cases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B7816B-0AD4-4CED-8DBC-8964446C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62125"/>
            <a:ext cx="23812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AFA784-6BBE-4BEE-AFD6-ABE83418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90725"/>
            <a:ext cx="1924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0.35 deg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1CE870-3436-45B0-B680-380CF06E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622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Median final MAE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69BE46-327D-4F60-A94C-A4AA3D3D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28925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96B7A"/>
                </a:solidFill>
                <a:latin typeface="Aptos"/>
                <a:ea typeface="Aptos"/>
                <a:cs typeface="Aptos"/>
              </a:rPr>
              <a:t>tight when it succeeds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0EE3B4-5AF5-4863-A8F1-FAF189AC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62125"/>
            <a:ext cx="23812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B3F8AF-8806-4D97-8F2D-4D18883F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90725"/>
            <a:ext cx="1924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2A541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2A541"/>
                </a:solidFill>
                <a:latin typeface="Aptos"/>
                <a:ea typeface="Aptos"/>
                <a:cs typeface="Aptos"/>
              </a:rPr>
              <a:t>7.23 deg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83FCFF-2AD7-4B09-8607-9C3B54BB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622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Mean final MAE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DC7EF4-9771-4BD5-ADA7-3C42D525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28925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96B7A"/>
                </a:solidFill>
                <a:latin typeface="Aptos"/>
                <a:ea typeface="Aptos"/>
                <a:cs typeface="Aptos"/>
              </a:rPr>
              <a:t>mean pulled by failures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59d16b1c0498a"/>
          <a:stretch xmlns:a="http://schemas.openxmlformats.org/drawingml/2006/main"/>
        </p:blipFill>
        <p:spPr>
          <a:xfrm xmlns:a="http://schemas.openxmlformats.org/drawingml/2006/main">
            <a:off x="3393558" y="3333750"/>
            <a:ext cx="5404884" cy="290512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431E8D-5530-4A49-9F2E-E0FC1F45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Source: full_final_summary.csv and full_final_metrics.csv for run_20260616_012625_td3_mathworks_style_wide</a:t>
            </a:r>
          </a:p>
        </p:txBody>
      </p:sp>
    </p:spTree>
    <p:extLst>
      <p:ext uri="{BB962C8B-B14F-4D97-AF65-F5344CB8AC3E}">
        <p14:creationId xmlns:p14="http://schemas.microsoft.com/office/powerpoint/2010/main" val="5832023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2249A0-0316-417B-92DE-B407030C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CF249-905E-44C4-A526-13378F9C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Failure mode is specific: arm management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BB473C-BD68-4737-8431-727BC553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5F6"/>
          </a:solidFill>
          <a:ln xmlns:a="http://schemas.openxmlformats.org/drawingml/2006/main" w="9525">
            <a:solidFill>
              <a:srgbClr val="ECC1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AAEB7-C731-4A1D-AB5D-2A82B2A0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3125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D1495B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D1495B"/>
                </a:solidFill>
                <a:latin typeface="Aptos"/>
                <a:ea typeface="Aptos"/>
                <a:cs typeface="Aptos"/>
              </a:rPr>
              <a:t>43 failures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5C2D4-42F9-40EC-9DA3-B17FB4C6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52750"/>
            <a:ext cx="371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25313D"/>
                </a:solidFill>
                <a:latin typeface="Aptos"/>
                <a:ea typeface="Aptos"/>
                <a:cs typeface="Aptos"/>
              </a:rPr>
              <a:t>All were arm-angle limit failures. No pendulum-limit failures. No angular-velocity-limit failures.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02636-942F-48BD-82D7-E10E79A1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7FBFC"/>
          </a:solidFill>
          <a:ln xmlns:a="http://schemas.openxmlformats.org/drawingml/2006/main" w="9525">
            <a:solidFill>
              <a:srgbClr val="BFD7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EC950E-F752-4068-BEF4-ED1FDD8B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Exceedance margins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225518-D2C2-4430-AAB1-654B5534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min 0.012 deg</a:t>
            </a:r>
          </a:p>
          <a:p xmlns:a="http://schemas.openxmlformats.org/drawingml/2006/main">
            <a:pPr>
              <a:defRPr sz="22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median 0.312 deg</a:t>
            </a:r>
          </a:p>
          <a:p xmlns:a="http://schemas.openxmlformats.org/drawingml/2006/main">
            <a:pPr>
              <a:defRPr sz="22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max 2.277 deg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1CFDE6-D7D9-442D-8542-29C78A7E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95875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Interpretation: the controller can swing up and stabilize in many practical cases, but the objective still tolerates arm travel too much.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A11498-E387-422F-AFE5-E8367480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Source: meeting handoff and full_final_metrics.csv</a:t>
            </a:r>
          </a:p>
        </p:txBody>
      </p:sp>
    </p:spTree>
    <p:extLst>
      <p:ext uri="{BB962C8B-B14F-4D97-AF65-F5344CB8AC3E}">
        <p14:creationId xmlns:p14="http://schemas.microsoft.com/office/powerpoint/2010/main" val="16490129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3AA8ED-60FA-449F-925B-CA88202E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82991-9D93-4C1C-98C7-D72E4896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Plant mismatch is not just a voltage-path issue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9d6014a5414768"/>
          <a:stretch xmlns:a="http://schemas.openxmlformats.org/drawingml/2006/main"/>
        </p:blipFill>
        <p:spPr>
          <a:xfrm xmlns:a="http://schemas.openxmlformats.org/drawingml/2006/main">
            <a:off x="2374605" y="1524000"/>
            <a:ext cx="7442791" cy="4000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533CC-B64F-4DBC-A929-DE0043F9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959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Cautious conclusion: PI/current is robust on the analytical-active plant, but Simscape-active feedback collapses broad robustness. Direct voltage is still useful diagnostically, not yet as the winner.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A82925-EAB7-4BDB-90B2-843A99CC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Sources: PI/current analytical/Simscape rerun summaries; voltage analytical/Simscape summaries</a:t>
            </a:r>
          </a:p>
        </p:txBody>
      </p:sp>
    </p:spTree>
    <p:extLst>
      <p:ext uri="{BB962C8B-B14F-4D97-AF65-F5344CB8AC3E}">
        <p14:creationId xmlns:p14="http://schemas.microsoft.com/office/powerpoint/2010/main" val="16558748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E285EE-BFB0-4C9D-A33B-E6B04243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CBBECD-7D94-4088-B2DB-39F132C0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PI/current rerun: analytical reproduces, Simscape collapses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ECB22-0397-4106-B047-113651E4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Feedback plant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81EF6-4017-4F95-834A-55050A4D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00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Failure rate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434209-600D-4E31-855B-DB32B581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00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Failures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724DE-E39D-4EB1-B334-D6EB19EB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2857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5D206-EE76-4B70-9D57-9A32FAE9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2476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B7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03842-A246-4531-BCE0-D6B0FE59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76500"/>
            <a:ext cx="2476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8EB"/>
          </a:solidFill>
          <a:ln xmlns:a="http://schemas.openxmlformats.org/drawingml/2006/main" w="9525">
            <a:solidFill>
              <a:srgbClr val="ECD49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7EA7CA-F544-4BE5-9293-A414CCE5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146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Analytical-active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73A68F-A0FB-45A8-AA40-63883504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14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14.48% failure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0E25B5-DA87-428D-A102-105B9027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14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43/297 cases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39C4F7-FDC2-4292-B31A-34A5030E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2857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83FB72-1AC3-4233-9413-4141E2B1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2476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B7D8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8A0CD2-F011-470F-9D82-730EA352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14750"/>
            <a:ext cx="2476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8EB"/>
          </a:solidFill>
          <a:ln xmlns:a="http://schemas.openxmlformats.org/drawingml/2006/main" w="9525">
            <a:solidFill>
              <a:srgbClr val="ECD49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609BB2-7375-4860-8048-65D9E6EF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528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Simscape-active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8732AC-AA7C-4D18-B2D0-275E3B5D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528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86.53% failure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1C00D5-84E2-443A-88BF-F72697D0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528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257/297 cases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DC50EA-95CA-4BC4-A531-A3A50F25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72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D060AA-A906-4E91-8FE2-2E5503C4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95875"/>
            <a:ext cx="942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5313D"/>
                </a:solidFill>
                <a:latin typeface="Aptos"/>
                <a:ea typeface="Aptos"/>
                <a:cs typeface="Aptos"/>
              </a:rPr>
              <a:t>The old PI/current result was effectively analytical-active; the explicit rerun reproduced it exactly.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EAFA1E-9BD2-41BD-9915-28E7C60D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48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04A26C-835D-4C0A-8A10-58544676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72125"/>
            <a:ext cx="942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5313D"/>
                </a:solidFill>
                <a:latin typeface="Aptos"/>
                <a:ea typeface="Aptos"/>
                <a:cs typeface="Aptos"/>
              </a:rPr>
              <a:t>The smaller Simscape mean final theta2 MAE is misleading because most hard cases fail. Lead with failure rate and breakdown.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E1EC33-7535-42C8-91D8-6627FE07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722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149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1495B"/>
                </a:solidFill>
                <a:latin typeface="Aptos"/>
                <a:ea typeface="Aptos"/>
                <a:cs typeface="Aptos"/>
              </a:rPr>
              <a:t>Hardware note: this argues for plant/interface validation before hardware-oriented claims.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8F5A0E-D0AC-482E-9E91-B514EABE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Sources: pi_current_analytical_active/full_final_summary.csv; pi_current_simscape_active/full_final_summary.csv</a:t>
            </a:r>
          </a:p>
        </p:txBody>
      </p:sp>
    </p:spTree>
    <p:extLst>
      <p:ext uri="{BB962C8B-B14F-4D97-AF65-F5344CB8AC3E}">
        <p14:creationId xmlns:p14="http://schemas.microsoft.com/office/powerpoint/2010/main" val="1363166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F3D9B5-84B8-46A5-A9BF-299D8AA9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AD0C0-3404-41F5-B1B2-CB343EF2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New metrics clarify what changed and what did not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B05E2C-805E-429E-99D6-EFB4D4C5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4762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B7D8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C2BAA8-0E9A-4C96-8BDB-2828DE35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431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Short/easy cases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B46E5F-8EC2-4023-A874-2868012B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81300"/>
            <a:ext cx="3905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Analytical and Simscape are very similar:</a:t>
            </a:r>
          </a:p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Theta2EndOscRMS about 0.0067 rad</a:t>
            </a:r>
          </a:p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Theta2EndPeakToPeak about 0.02 rad</a:t>
            </a:r>
          </a:p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Oscillation frequency about 7 Hz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057FFA-0CB4-4968-96AD-B8D5ADDD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762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8EB"/>
          </a:solidFill>
          <a:ln xmlns:a="http://schemas.openxmlformats.org/drawingml/2006/main" w="9525">
            <a:solidFill>
              <a:srgbClr val="ECD49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F8D1DF-10EE-4C9C-9711-F07BBDED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431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2A54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A541"/>
                </a:solidFill>
                <a:latin typeface="Aptos"/>
                <a:ea typeface="Aptos"/>
                <a:cs typeface="Aptos"/>
              </a:rPr>
              <a:t>Broad/full matrix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EB857-970D-41B7-B1E2-0ED859CF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81300"/>
            <a:ext cx="3905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Simscape-active fails much earlier/more often:</a:t>
            </a:r>
          </a:p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omega 5 rad/s: 66/66 failed</a:t>
            </a:r>
          </a:p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omega 10 rad/s: 188/198 failed</a:t>
            </a:r>
          </a:p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Failure rate is the headline.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F2F002-93E8-4651-915E-AB1CD9D2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0"/>
            <a:ext cx="962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Meeting phrasing: the final-second oscillation metric says easy upright behavior transfers, but the full matrix says recovery robustness does not.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A6D20B-6C23-4F57-BB5C-B217F469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Sources: PI/current analytical-active and Simscape-active rerun summaries; user-provided breakdown</a:t>
            </a:r>
          </a:p>
        </p:txBody>
      </p:sp>
    </p:spTree>
    <p:extLst>
      <p:ext uri="{BB962C8B-B14F-4D97-AF65-F5344CB8AC3E}">
        <p14:creationId xmlns:p14="http://schemas.microsoft.com/office/powerpoint/2010/main" val="1415020924"/>
      </p:ext>
    </p:extLst>
  </p:cSld>
</p:sld>
</file>

<file path=ppt/theme/theme1.xml><?xml version="1.0" encoding="utf-8"?>
<a:theme xmlns:a="http://schemas.openxmlformats.org/drawingml/2006/main" name="ChatGPT">
  <a:themeElements>
    <a:clrScheme name="Furuta update">
      <a:dk1>
        <a:srgbClr val="000000"/>
      </a:dk1>
      <a:lt1>
        <a:srgbClr val="FFFFFF"/>
      </a:lt1>
      <a:dk2>
        <a:srgbClr val="25313D"/>
      </a:dk2>
      <a:lt2>
        <a:srgbClr val="E8EDF2"/>
      </a:lt2>
      <a:accent1>
        <a:srgbClr val="0B4F6C"/>
      </a:accent1>
      <a:accent2>
        <a:srgbClr val="2A9D8F"/>
      </a:accent2>
      <a:accent3>
        <a:srgbClr val="F2A541"/>
      </a:accent3>
      <a:accent4>
        <a:srgbClr val="D1495B"/>
      </a:accent4>
      <a:accent5>
        <a:srgbClr val="4BACC6"/>
      </a:accent5>
      <a:accent6>
        <a:srgbClr val="F79646"/>
      </a:accent6>
      <a:hlink>
        <a:srgbClr val="0B4F6C"/>
      </a:hlink>
      <a:folHlink>
        <a:srgbClr val="2A9D8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uruta upda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2026-06-17T12:45:15.6290000Z</dcterms:created>
  <dcterms:modified xsi:type="dcterms:W3CDTF">2026-06-17T12:45:15.6290000Z</dcterms:modified>
</coreProperties>
</file>