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4fdc0ff6df4955" /><Relationship Type="http://schemas.openxmlformats.org/officeDocument/2006/relationships/extended-properties" Target="/docProps/app.xml" Id="Rf5c818ad7b8f4f45" /><Relationship Type="http://schemas.openxmlformats.org/officeDocument/2006/relationships/officeDocument" Target="/ppt/presentation.xml" Id="R3d6de7fbb3224d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624ba563074f34"/>
  </p:sldMasterIdLst>
  <p:notesMasterIdLst>
    <p:notesMasterId xmlns:r="http://schemas.openxmlformats.org/officeDocument/2006/relationships" r:id="R358d50511d6e4f7a"/>
  </p:notesMasterIdLst>
  <p:sldIdLst>
    <p:sldId xmlns:r="http://schemas.openxmlformats.org/officeDocument/2006/relationships" id="256" r:id="R3c79a06b623040d0"/>
    <p:sldId xmlns:r="http://schemas.openxmlformats.org/officeDocument/2006/relationships" id="257" r:id="Rf1d2c7fa72b64eaa"/>
    <p:sldId xmlns:r="http://schemas.openxmlformats.org/officeDocument/2006/relationships" id="258" r:id="R7d972ad257ae4414"/>
    <p:sldId xmlns:r="http://schemas.openxmlformats.org/officeDocument/2006/relationships" id="259" r:id="Re5dc308f39324c85"/>
    <p:sldId xmlns:r="http://schemas.openxmlformats.org/officeDocument/2006/relationships" id="260" r:id="R4609ee314db349f8"/>
    <p:sldId xmlns:r="http://schemas.openxmlformats.org/officeDocument/2006/relationships" id="261" r:id="R9808494d564f4671"/>
    <p:sldId xmlns:r="http://schemas.openxmlformats.org/officeDocument/2006/relationships" id="262" r:id="R0a7873265ed14fdd"/>
    <p:sldId xmlns:r="http://schemas.openxmlformats.org/officeDocument/2006/relationships" id="263" r:id="R292df43a060f4966"/>
    <p:sldId xmlns:r="http://schemas.openxmlformats.org/officeDocument/2006/relationships" id="264" r:id="R9408f5e50bbc42c0"/>
    <p:sldId xmlns:r="http://schemas.openxmlformats.org/officeDocument/2006/relationships" id="265" r:id="R5b35ea94fffb4397"/>
    <p:sldId xmlns:r="http://schemas.openxmlformats.org/officeDocument/2006/relationships" id="266" r:id="Ra895e2bc4edb4cc9"/>
    <p:sldId xmlns:r="http://schemas.openxmlformats.org/officeDocument/2006/relationships" id="267" r:id="R5029c841705b4d33"/>
    <p:sldId xmlns:r="http://schemas.openxmlformats.org/officeDocument/2006/relationships" id="268" r:id="R30222b055bf3437c"/>
    <p:sldId xmlns:r="http://schemas.openxmlformats.org/officeDocument/2006/relationships" id="269" r:id="R2405b38e237c49e7"/>
    <p:sldId xmlns:r="http://schemas.openxmlformats.org/officeDocument/2006/relationships" id="270" r:id="Rf06313f21f6d48a0"/>
    <p:sldId xmlns:r="http://schemas.openxmlformats.org/officeDocument/2006/relationships" id="271" r:id="Rdc8ee32ee9c4404b"/>
    <p:sldId xmlns:r="http://schemas.openxmlformats.org/officeDocument/2006/relationships" id="272" r:id="Re4ae1d0a492148ae"/>
    <p:sldId xmlns:r="http://schemas.openxmlformats.org/officeDocument/2006/relationships" id="273" r:id="Rf8c1afc6f85f47d7"/>
    <p:sldId xmlns:r="http://schemas.openxmlformats.org/officeDocument/2006/relationships" id="274" r:id="R8ead97350f954e1b"/>
    <p:sldId xmlns:r="http://schemas.openxmlformats.org/officeDocument/2006/relationships" id="275" r:id="Rb85ae5db3fc949d0"/>
    <p:sldId xmlns:r="http://schemas.openxmlformats.org/officeDocument/2006/relationships" id="276" r:id="Rc50c135be787482e"/>
    <p:sldId xmlns:r="http://schemas.openxmlformats.org/officeDocument/2006/relationships" id="277" r:id="R527dd93a8efd43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f4884c0d474691" /><Relationship Type="http://schemas.openxmlformats.org/officeDocument/2006/relationships/slideMaster" Target="/ppt/slideMasters/slideMaster1.xml" Id="R36624ba563074f34" /><Relationship Type="http://schemas.openxmlformats.org/officeDocument/2006/relationships/notesMaster" Target="/ppt/notesMasters/notesMaster1.xml" Id="R358d50511d6e4f7a" /><Relationship Type="http://schemas.openxmlformats.org/officeDocument/2006/relationships/presProps" Target="/ppt/presProps.xml" Id="Ra0afa35d7d2a4976" /><Relationship Type="http://schemas.openxmlformats.org/officeDocument/2006/relationships/tableStyles" Target="/ppt/tableStyles.xml" Id="Rcdda23f871ae4b12" /><Relationship Type="http://schemas.openxmlformats.org/officeDocument/2006/relationships/slide" Target="/ppt/slides/slide1.xml" Id="R3c79a06b623040d0" /><Relationship Type="http://schemas.openxmlformats.org/officeDocument/2006/relationships/slide" Target="/ppt/slides/slide2.xml" Id="Rf1d2c7fa72b64eaa" /><Relationship Type="http://schemas.openxmlformats.org/officeDocument/2006/relationships/slide" Target="/ppt/slides/slide3.xml" Id="R7d972ad257ae4414" /><Relationship Type="http://schemas.openxmlformats.org/officeDocument/2006/relationships/slide" Target="/ppt/slides/slide4.xml" Id="Re5dc308f39324c85" /><Relationship Type="http://schemas.openxmlformats.org/officeDocument/2006/relationships/slide" Target="/ppt/slides/slide5.xml" Id="R4609ee314db349f8" /><Relationship Type="http://schemas.openxmlformats.org/officeDocument/2006/relationships/slide" Target="/ppt/slides/slide6.xml" Id="R9808494d564f4671" /><Relationship Type="http://schemas.openxmlformats.org/officeDocument/2006/relationships/slide" Target="/ppt/slides/slide7.xml" Id="R0a7873265ed14fdd" /><Relationship Type="http://schemas.openxmlformats.org/officeDocument/2006/relationships/slide" Target="/ppt/slides/slide8.xml" Id="R292df43a060f4966" /><Relationship Type="http://schemas.openxmlformats.org/officeDocument/2006/relationships/slide" Target="/ppt/slides/slide9.xml" Id="R9408f5e50bbc42c0" /><Relationship Type="http://schemas.openxmlformats.org/officeDocument/2006/relationships/slide" Target="/ppt/slides/slide10.xml" Id="R5b35ea94fffb4397" /><Relationship Type="http://schemas.openxmlformats.org/officeDocument/2006/relationships/slide" Target="/ppt/slides/slide11.xml" Id="Ra895e2bc4edb4cc9" /><Relationship Type="http://schemas.openxmlformats.org/officeDocument/2006/relationships/slide" Target="/ppt/slides/slide12.xml" Id="R5029c841705b4d33" /><Relationship Type="http://schemas.openxmlformats.org/officeDocument/2006/relationships/slide" Target="/ppt/slides/slide13.xml" Id="R30222b055bf3437c" /><Relationship Type="http://schemas.openxmlformats.org/officeDocument/2006/relationships/slide" Target="/ppt/slides/slide14.xml" Id="R2405b38e237c49e7" /><Relationship Type="http://schemas.openxmlformats.org/officeDocument/2006/relationships/slide" Target="/ppt/slides/slide15.xml" Id="Rf06313f21f6d48a0" /><Relationship Type="http://schemas.openxmlformats.org/officeDocument/2006/relationships/slide" Target="/ppt/slides/slide16.xml" Id="Rdc8ee32ee9c4404b" /><Relationship Type="http://schemas.openxmlformats.org/officeDocument/2006/relationships/slide" Target="/ppt/slides/slide17.xml" Id="Re4ae1d0a492148ae" /><Relationship Type="http://schemas.openxmlformats.org/officeDocument/2006/relationships/slide" Target="/ppt/slides/slide18.xml" Id="Rf8c1afc6f85f47d7" /><Relationship Type="http://schemas.openxmlformats.org/officeDocument/2006/relationships/slide" Target="/ppt/slides/slide19.xml" Id="R8ead97350f954e1b" /><Relationship Type="http://schemas.openxmlformats.org/officeDocument/2006/relationships/slide" Target="/ppt/slides/slide20.xml" Id="Rb85ae5db3fc949d0" /><Relationship Type="http://schemas.openxmlformats.org/officeDocument/2006/relationships/slide" Target="/ppt/slides/slide21.xml" Id="Rc50c135be787482e" /><Relationship Type="http://schemas.openxmlformats.org/officeDocument/2006/relationships/slide" Target="/ppt/slides/slide22.xml" Id="R527dd93a8efd43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b25a67f60a4d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Furuta update">
      <a:dk1>
        <a:srgbClr val="000000"/>
      </a:dk1>
      <a:lt1>
        <a:srgbClr val="FFFFFF"/>
      </a:lt1>
      <a:dk2>
        <a:srgbClr val="25313D"/>
      </a:dk2>
      <a:lt2>
        <a:srgbClr val="E8EDF2"/>
      </a:lt2>
      <a:accent1>
        <a:srgbClr val="0B4F6C"/>
      </a:accent1>
      <a:accent2>
        <a:srgbClr val="2A9D8F"/>
      </a:accent2>
      <a:accent3>
        <a:srgbClr val="F2A541"/>
      </a:accent3>
      <a:accent4>
        <a:srgbClr val="D1495B"/>
      </a:accent4>
      <a:accent5>
        <a:srgbClr val="4BACC6"/>
      </a:accent5>
      <a:accent6>
        <a:srgbClr val="F79646"/>
      </a:accent6>
      <a:hlink>
        <a:srgbClr val="0B4F6C"/>
      </a:hlink>
      <a:folHlink>
        <a:srgbClr val="2A9D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uruta upd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e27df45e5f47ae" /><Relationship Type="http://schemas.openxmlformats.org/officeDocument/2006/relationships/notesMaster" Target="/ppt/notesMasters/notesMaster1.xml" Id="R1ce17fec1d5149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024d8b1a3448b4" /><Relationship Type="http://schemas.openxmlformats.org/officeDocument/2006/relationships/notesMaster" Target="/ppt/notesMasters/notesMaster1.xml" Id="R42babf62f8da41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1107efb52047e6" /><Relationship Type="http://schemas.openxmlformats.org/officeDocument/2006/relationships/notesMaster" Target="/ppt/notesMasters/notesMaster1.xml" Id="R80df89c77d7e4e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9a975bc54a46a1" /><Relationship Type="http://schemas.openxmlformats.org/officeDocument/2006/relationships/notesMaster" Target="/ppt/notesMasters/notesMaster1.xml" Id="Rb1331fbcd6984b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d639baaf214177" /><Relationship Type="http://schemas.openxmlformats.org/officeDocument/2006/relationships/notesMaster" Target="/ppt/notesMasters/notesMaster1.xml" Id="R035ac3288da44b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fb65cd38264b86" /><Relationship Type="http://schemas.openxmlformats.org/officeDocument/2006/relationships/notesMaster" Target="/ppt/notesMasters/notesMaster1.xml" Id="R53d7508a42934a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6caac75c314000" /><Relationship Type="http://schemas.openxmlformats.org/officeDocument/2006/relationships/notesMaster" Target="/ppt/notesMasters/notesMaster1.xml" Id="Ra0fe3d16f4b242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b5ec389a324250" /><Relationship Type="http://schemas.openxmlformats.org/officeDocument/2006/relationships/notesMaster" Target="/ppt/notesMasters/notesMaster1.xml" Id="Re9520e85099944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ba981ad45c4aab" /><Relationship Type="http://schemas.openxmlformats.org/officeDocument/2006/relationships/notesMaster" Target="/ppt/notesMasters/notesMaster1.xml" Id="Rfa1ae2a886f046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2835bd39a242cb" /><Relationship Type="http://schemas.openxmlformats.org/officeDocument/2006/relationships/notesMaster" Target="/ppt/notesMasters/notesMaster1.xml" Id="R2423ca7e3b1241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48ec1a12ea4cd7" /><Relationship Type="http://schemas.openxmlformats.org/officeDocument/2006/relationships/notesMaster" Target="/ppt/notesMasters/notesMaster1.xml" Id="Rc11623859d114c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de30344bcc41d0" /><Relationship Type="http://schemas.openxmlformats.org/officeDocument/2006/relationships/notesMaster" Target="/ppt/notesMasters/notesMaster1.xml" Id="R378bdd71301641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938525aee3467d" /><Relationship Type="http://schemas.openxmlformats.org/officeDocument/2006/relationships/notesMaster" Target="/ppt/notesMasters/notesMaster1.xml" Id="R18063bd551354c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a257613c42410d" /><Relationship Type="http://schemas.openxmlformats.org/officeDocument/2006/relationships/notesMaster" Target="/ppt/notesMasters/notesMaster1.xml" Id="Rdb7262ef477f46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d75454a4ba4fa3" /><Relationship Type="http://schemas.openxmlformats.org/officeDocument/2006/relationships/notesMaster" Target="/ppt/notesMasters/notesMaster1.xml" Id="Rb5a310b7ca354b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aaf75b8ccb4f4e" /><Relationship Type="http://schemas.openxmlformats.org/officeDocument/2006/relationships/notesMaster" Target="/ppt/notesMasters/notesMaster1.xml" Id="Rfd6d47dd4b5a4f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05febe796794584" /><Relationship Type="http://schemas.openxmlformats.org/officeDocument/2006/relationships/notesMaster" Target="/ppt/notesMasters/notesMaster1.xml" Id="R9e2a7ccf5cea44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ccba2dc5f646e5" /><Relationship Type="http://schemas.openxmlformats.org/officeDocument/2006/relationships/notesMaster" Target="/ppt/notesMasters/notesMaster1.xml" Id="R2b9f1b43c78a421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4113e8e78e4b6e" /><Relationship Type="http://schemas.openxmlformats.org/officeDocument/2006/relationships/notesMaster" Target="/ppt/notesMasters/notesMaster1.xml" Id="R4a14cb95bbd44ae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b92867e44b64c74" /><Relationship Type="http://schemas.openxmlformats.org/officeDocument/2006/relationships/notesMaster" Target="/ppt/notesMasters/notesMaster1.xml" Id="R4db1a1aa47894a4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56537fcfa8c4b0b" /><Relationship Type="http://schemas.openxmlformats.org/officeDocument/2006/relationships/notesMaster" Target="/ppt/notesMasters/notesMaster1.xml" Id="R7102d15b78bf464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2582efa5f94b1c" /><Relationship Type="http://schemas.openxmlformats.org/officeDocument/2006/relationships/notesMaster" Target="/ppt/notesMasters/notesMaster1.xml" Id="R3b907d7fe06c44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naturally: this is not a victory-lap talk. The useful result is that the project moved from fragile training attempts to a controller we can actually evaluate and discuss scientifically.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mostly orientation. Say that the project has entered the evaluation and decision-gate phase.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bridge slide. The water tank work was valuable because it built the project discipline: staged difficulty, reward scaling, fixed evaluation, and organized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gives a natural-language explanation. The curriculum idea was not just copied blindly; it came from trying to make learning and evaluation scientifically staged.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why the Water Tank work went beyond the MATLAB example. The key phrase: the original reward taught acceptable behavior, but not precision.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tees up the next three plots. The water tank is simple but asymmetric, which makes reward shaping surprisingly brittle.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honest summary: the water tank produced useful behaviors, but the reward design never became universally satisfying.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intentionally only shows height/reference and action. This is the easy direction for the actuator.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contrast with the raising case. The one-direction actuator explains why reward tuning was not symmetric.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the exact at-reference trajectory was not exported. The saved metrics are real; the plotted line is a simple sketch to communicate the desired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should sound natural: I moved on because reward shaping started feeling like whack-a-mole across cases, not because the water tank was useless.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show that TD3 was a deliberate choice, not just the algorithm at hand. SAC/PPO hybrid was known, but it would have changed the architecture more radically.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'what I learned' slide. The early approach was not wasted: it uncovered signal, reward, timing, and evaluation problems.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dwell too long on the formula unless asked. The important point is that the setup became stable enough to learn, then the evaluation revealed what was still weak.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lets you avoid listing 297 cases. Say the matrix is a Cartesian product of four interpretable stress axes.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explain the user's newest evaluation improvement. The key is the last-second window and detrending: separate bias from oscillation amplitude.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this is the first run that feels genuinely usable. But the late spikes remind us not to claim robustness just from training reward.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best positive result. Make the nuance clear: successful cases are often very good, but broad robustness is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good informal slide. It turns the failure story from vague to actionable: reward and arm constraints need attention.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Phrase carefully: the new PI/current rerun proves the Simscape-active problem is not only caused by the voltage command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updated decision-gate slide. It replaces the pending rerun with the actual plant-mismatch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clean takeaway: the new metrics did their job by separating final oscillation behavior from broad robustness.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fbaa27f0942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094beeab8a4060" /><Relationship Type="http://schemas.openxmlformats.org/officeDocument/2006/relationships/slideLayout" Target="/ppt/slideLayouts/slideLayout1.xml" Id="Re5bafa9eb22741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bafa9eb22741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Furuta update">
      <a:dk1>
        <a:srgbClr val="000000"/>
      </a:dk1>
      <a:lt1>
        <a:srgbClr val="FFFFFF"/>
      </a:lt1>
      <a:dk2>
        <a:srgbClr val="25313D"/>
      </a:dk2>
      <a:lt2>
        <a:srgbClr val="E8EDF2"/>
      </a:lt2>
      <a:accent1>
        <a:srgbClr val="0B4F6C"/>
      </a:accent1>
      <a:accent2>
        <a:srgbClr val="2A9D8F"/>
      </a:accent2>
      <a:accent3>
        <a:srgbClr val="F2A541"/>
      </a:accent3>
      <a:accent4>
        <a:srgbClr val="D1495B"/>
      </a:accent4>
      <a:accent5>
        <a:srgbClr val="4BACC6"/>
      </a:accent5>
      <a:accent6>
        <a:srgbClr val="F79646"/>
      </a:accent6>
      <a:hlink>
        <a:srgbClr val="0B4F6C"/>
      </a:hlink>
      <a:folHlink>
        <a:srgbClr val="2A9D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uruta upd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8ae99be974781" /><Relationship Type="http://schemas.openxmlformats.org/officeDocument/2006/relationships/notesSlide" Target="/ppt/notesSlides/notesSlide1.xml" Id="R083da4b82d0543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8bb590982450b" /><Relationship Type="http://schemas.openxmlformats.org/officeDocument/2006/relationships/notesSlide" Target="/ppt/notesSlides/notesSlide2.xml" Id="Rf0b2e74c90a344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651fb65b04d8b" /><Relationship Type="http://schemas.openxmlformats.org/officeDocument/2006/relationships/notesSlide" Target="/ppt/notesSlides/notesSlide3.xml" Id="R1a14d98625764c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c70e0987d4f73" /><Relationship Type="http://schemas.openxmlformats.org/officeDocument/2006/relationships/notesSlide" Target="/ppt/notesSlides/notesSlide4.xml" Id="Rd3438f1516e34e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7248ea7654472" /><Relationship Type="http://schemas.openxmlformats.org/officeDocument/2006/relationships/notesSlide" Target="/ppt/notesSlides/notesSlide5.xml" Id="R98a7e2e8d5ce41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d952d10384d9f" /><Relationship Type="http://schemas.openxmlformats.org/officeDocument/2006/relationships/notesSlide" Target="/ppt/notesSlides/notesSlide6.xml" Id="Rd111ac79a75549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f4ba472ea46a5" /><Relationship Type="http://schemas.openxmlformats.org/officeDocument/2006/relationships/notesSlide" Target="/ppt/notesSlides/notesSlide7.xml" Id="Raba4f0eca7d345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a28208cbc4f1c" /><Relationship Type="http://schemas.openxmlformats.org/officeDocument/2006/relationships/image" Target="/ppt/media/image.png" Id="Rbca99bc8149d4788" /><Relationship Type="http://schemas.openxmlformats.org/officeDocument/2006/relationships/notesSlide" Target="/ppt/notesSlides/notesSlide8.xml" Id="Rf1a7835fc01940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4fdb98005427f" /><Relationship Type="http://schemas.openxmlformats.org/officeDocument/2006/relationships/image" Target="/ppt/media/image2.png" Id="Rd21fd87c40f44a52" /><Relationship Type="http://schemas.openxmlformats.org/officeDocument/2006/relationships/notesSlide" Target="/ppt/notesSlides/notesSlide9.xml" Id="Rbd1d01477f8d4d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f7e5134d445b8" /><Relationship Type="http://schemas.openxmlformats.org/officeDocument/2006/relationships/image" Target="/ppt/media/image3.png" Id="Rc574fc6a8cb74215" /><Relationship Type="http://schemas.openxmlformats.org/officeDocument/2006/relationships/notesSlide" Target="/ppt/notesSlides/notesSlide10.xml" Id="Reaa7f2182eb04e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10d70f59243dc" /><Relationship Type="http://schemas.openxmlformats.org/officeDocument/2006/relationships/notesSlide" Target="/ppt/notesSlides/notesSlide11.xml" Id="R44de1a22ab504c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1c3d2cfa245bd" /><Relationship Type="http://schemas.openxmlformats.org/officeDocument/2006/relationships/notesSlide" Target="/ppt/notesSlides/notesSlide12.xml" Id="Rf8d4304c4f1848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8ed61f0a24246" /><Relationship Type="http://schemas.openxmlformats.org/officeDocument/2006/relationships/notesSlide" Target="/ppt/notesSlides/notesSlide13.xml" Id="R64f17cdf650e4f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d30d997444303" /><Relationship Type="http://schemas.openxmlformats.org/officeDocument/2006/relationships/notesSlide" Target="/ppt/notesSlides/notesSlide14.xml" Id="R18ea078df2d84e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9b76a71d34679" /><Relationship Type="http://schemas.openxmlformats.org/officeDocument/2006/relationships/notesSlide" Target="/ppt/notesSlides/notesSlide15.xml" Id="Rbda703a21ac745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43a36b10a4361" /><Relationship Type="http://schemas.openxmlformats.org/officeDocument/2006/relationships/notesSlide" Target="/ppt/notesSlides/notesSlide16.xml" Id="R0b8e9650a8fa4a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a183c6e4d4234" /><Relationship Type="http://schemas.openxmlformats.org/officeDocument/2006/relationships/image" Target="/ppt/media/image4.png" Id="R9fea85fb4bec4523" /><Relationship Type="http://schemas.openxmlformats.org/officeDocument/2006/relationships/notesSlide" Target="/ppt/notesSlides/notesSlide17.xml" Id="R42586207fa5845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ea0f91671470a" /><Relationship Type="http://schemas.openxmlformats.org/officeDocument/2006/relationships/image" Target="/ppt/media/image5.png" Id="R19fd31caad08420e" /><Relationship Type="http://schemas.openxmlformats.org/officeDocument/2006/relationships/notesSlide" Target="/ppt/notesSlides/notesSlide18.xml" Id="R73593637cdf041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8db82959d4fc0" /><Relationship Type="http://schemas.openxmlformats.org/officeDocument/2006/relationships/notesSlide" Target="/ppt/notesSlides/notesSlide19.xml" Id="R9343269e8e92419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5abc52e984f18" /><Relationship Type="http://schemas.openxmlformats.org/officeDocument/2006/relationships/image" Target="/ppt/media/image6.png" Id="Rbf95b1722ca841ae" /><Relationship Type="http://schemas.openxmlformats.org/officeDocument/2006/relationships/notesSlide" Target="/ppt/notesSlides/notesSlide20.xml" Id="Rc950a646eed4461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2e6b969c44260" /><Relationship Type="http://schemas.openxmlformats.org/officeDocument/2006/relationships/notesSlide" Target="/ppt/notesSlides/notesSlide21.xml" Id="Rf0c80ddbaf93415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36cd8e0e84adf" /><Relationship Type="http://schemas.openxmlformats.org/officeDocument/2006/relationships/notesSlide" Target="/ppt/notesSlides/notesSlide22.xml" Id="R3161933df95e4c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B0BAB1-223F-4E57-81C8-16326868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Furuta inverted pendulum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FD715-DBF9-49F1-916E-AAE706C3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596B7A"/>
                </a:solidFill>
                <a:latin typeface="Aptos"/>
                <a:ea typeface="Aptos"/>
                <a:cs typeface="Aptos"/>
              </a:rPr>
              <a:t>Update meeting: what worked, what did not, and what needs a careful dry run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99E52-6159-4331-85C3-98537470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287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3C923-B9FD-4C26-8B7B-A4C205EB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Current honest headline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1C010-011B-42AA-A567-E671CE32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RL learned a useful swing-up/stabilization policy in simulation, but robustness and sim-to-real behavior depend strongly on reward design, actuator interface, and plant-model consistency.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A5D2D-4C0E-468F-9A40-D4A0D5B5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Prepared from project notes and saved TD3 run artifacts</a:t>
            </a:r>
          </a:p>
        </p:txBody>
      </p:sp>
    </p:spTree>
    <p:extLst>
      <p:ext uri="{BB962C8B-B14F-4D97-AF65-F5344CB8AC3E}">
        <p14:creationId xmlns:p14="http://schemas.microsoft.com/office/powerpoint/2010/main" val="402705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D6B9FE-E1EF-4363-9463-79D4C4D0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F6E0B-63B2-4721-ACC9-3D63EFE8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Where we are in the project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83771-E848-44D9-94CB-1296CD4B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9D11E-F9A4-4ADF-B9F8-700BD43E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Days 1-7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EB0AA-651C-42EA-9EE6-12153B23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Model, signals, simulation setup, baseline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677C4-A880-4F1A-B737-55823183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38375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514C1-8632-4CCE-8A43-27C082F5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Days 8-12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E62AB-176B-40A9-908E-AEEE6748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9085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RL training worked after moving away from the fragile curriculum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43365-23C8-48EE-BE54-D50E1552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3594C-9C16-4B42-A6A7-73F62860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Days 13-16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18A13-40FD-4595-90DE-E8A757DC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Current phase: robustness, fixed evaluation, actuator and plant diagnostics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54362-A344-43DD-8798-F00C0909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38375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74CBE-EBEC-492D-B854-1F332030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Days 17-20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E2DBA-A015-4B69-8230-46134E4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Meeting story, plots, demo choice, hardware dry-run preparation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A0648-DD23-482E-940A-DE0ECC8F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Meeting framing: show the controller as useful in simulation, not solved for hardware.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B66C8-E68B-4BFA-BE78-75C2EAEE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meeting handoff, MathWorks-style TD3 notes, saved run CSVs</a:t>
            </a:r>
          </a:p>
        </p:txBody>
      </p:sp>
    </p:spTree>
    <p:extLst>
      <p:ext uri="{BB962C8B-B14F-4D97-AF65-F5344CB8AC3E}">
        <p14:creationId xmlns:p14="http://schemas.microsoft.com/office/powerpoint/2010/main" val="930590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D7C508-01B0-4698-8E2E-B0319DBB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A64BD-6F41-424A-AA4D-1FC65283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Before Furuta: the Water Tank project became the workflow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3BFA5-60E9-4CE7-91C0-CD8707A1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5CEC8-ACCC-4C29-A989-E6B72FB4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Base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4F05C-BD91-4D36-9C1A-8348E3A2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Started from MathWorks rlwatertank DDPG: compact example, single training run, random starts.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2AE06-C5E4-4349-BA86-D0CDB25C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FCF95-2C03-4FCD-AE20-DD6895F4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193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Curriculum 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53429-DA44-40EB-8BA3-A40406C6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Extended it into four stages: local correction, medium transient, global robustness, precision fine-tuning.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E2F44-48DA-44E5-91FA-BBB3BE1D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C2FAE-A32D-4374-9FF5-5B556454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Reward lesson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9F2BC-5C12-4A24-8FB8-46A26784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Moved from tolerance-band success toward normalized tracking error, action effort, and action smoothness.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3FDC3-FF64-4AB8-9B74-1C6F5CC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DB9CD-C964-4DCF-8C4E-FB121940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95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Evaluation lesson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22FBC-A081-4966-A6D2-404825AB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Saved per-stage artifacts and used fixed/deterministic evaluations so results were not dominated by random initial conditions.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D4BB1-3025-4816-90B1-46585D11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721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Carry-over to Furuta: define the task, shape the reset distribution, log the signals, and evaluate fixed cases before believing training reward.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14131-DFA5-443B-9A8E-516E7329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RL-Water-Tank README and curriculum docs; docs/chat_handoff_2026-06-09.md</a:t>
            </a:r>
          </a:p>
        </p:txBody>
      </p:sp>
    </p:spTree>
    <p:extLst>
      <p:ext uri="{BB962C8B-B14F-4D97-AF65-F5344CB8AC3E}">
        <p14:creationId xmlns:p14="http://schemas.microsoft.com/office/powerpoint/2010/main" val="12801097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DB0E9E-C197-479A-95A7-A0B4AE0C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6858D-0CBC-4406-BFDE-8E3A594C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Where the curriculum idea came from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48F9F-19C6-40AB-8346-D37EF37D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ADC79-2975-47B1-B0BE-B63EDE3E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9DAC3-B7DF-47DA-9383-DBAF43F9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CD49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334C6-1E1A-4728-8774-88A8BB67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Practical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AA772-78FD-4CB5-8A2C-BFDD7A01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Water Tank: learn small corrections first, then widen the initial-condition distribution and reduce exploration for precision.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BB93E-884A-4CBA-827C-054A0C37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14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Control reason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E928C-A5CA-46FB-B0D7-40CA08DF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19375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 nonlinear controller should not be judged only on random starts. Each stage should answer a narrower control question.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28D3A-363C-48C0-B482-2A2AA091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Pendulum transfer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78DA9-FA58-453D-AECF-F1C390BE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19375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For Furuta, the natural curriculum was angle/velocity range: near-upright balance, medium recovery, large-angle recovery, full swing-up.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51EC8-42E5-4B67-A82C-D32F4F3B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0241B-F945-463D-AD1A-C65B6EC7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911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Important lesson: if the reward or reset distribution changes a lot, old replay/critic information can become misleading.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32016-17F0-49FA-AB98-7FEFAFC8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RL-Water-Tank curriculum docs; docs/rl_task_definition.md; docs/direct_td3_swingup_plan_2026-06-11.md</a:t>
            </a:r>
          </a:p>
        </p:txBody>
      </p:sp>
    </p:spTree>
    <p:extLst>
      <p:ext uri="{BB962C8B-B14F-4D97-AF65-F5344CB8AC3E}">
        <p14:creationId xmlns:p14="http://schemas.microsoft.com/office/powerpoint/2010/main" val="1066543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7A5FE6-BDF1-4D7C-8BD0-A7DF1412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76EC5-7039-4C71-B1DE-7D72F516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Water Tank reward: from MATLAB's band reward to control-shaped tracking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BE6F8-D796-4186-B4B5-394E2CAD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857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3BE7C-11A4-4061-B922-B483640D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MathWorks example reward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0D6FB-25DA-4B5E-A78E-87001AC5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+10 if |e| &lt; 0.1</a:t>
            </a:r>
          </a:p>
          <a:p xmlns:a="http://schemas.openxmlformats.org/drawingml/2006/main">
            <a:pPr>
              <a:defRPr sz="18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-1 otherwise</a:t>
            </a:r>
          </a:p>
          <a:p xmlns:a="http://schemas.openxmlformats.org/drawingml/2006/main">
            <a:pPr>
              <a:defRPr sz="18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-100 if the tank hits unsafe height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06A93-D84D-48C3-8648-C7D4B388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B7A"/>
                </a:solidFill>
                <a:latin typeface="Aptos"/>
                <a:ea typeface="Aptos"/>
                <a:cs typeface="Aptos"/>
              </a:rPr>
              <a:t>Good for teaching the agent to enter the acceptable band. Weak for precise steady-state tracking, because 0.09 error and near-zero error can receive the same reward.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D59EB-66F8-4A56-ABA6-7FA09428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857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7A6E3-2891-4471-B10C-5013303C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19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Final project reward 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FB4D7-D7E0-406C-ACAE-26CBC55F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76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normalized error</a:t>
            </a:r>
          </a:p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integral-error / PI-like terms</a:t>
            </a:r>
          </a:p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 effort</a:t>
            </a:r>
          </a:p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action-difference smoothness</a:t>
            </a:r>
          </a:p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unsafe-level penalty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A171A-C2C7-4316-8839-8B7B2C78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576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B7A"/>
                </a:solidFill>
                <a:latin typeface="Aptos"/>
                <a:ea typeface="Aptos"/>
                <a:cs typeface="Aptos"/>
              </a:rPr>
              <a:t>Potential shaping was used as curriculum assistance, but the base objective was kept as consistent as possible.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165D0-9B56-4288-A92E-54881E47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Lesson: reward scale is part of the controller design. A sudden reward rewrite can invalidate the critic and replay buffer.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D1CAC-50D1-417B-BE18-C0556894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MathWorks rlwatertank example; RL-Water-Tank README; scripts/rewardFcn.m; scripts/makeStageConfig.m</a:t>
            </a:r>
          </a:p>
        </p:txBody>
      </p:sp>
    </p:spTree>
    <p:extLst>
      <p:ext uri="{BB962C8B-B14F-4D97-AF65-F5344CB8AC3E}">
        <p14:creationId xmlns:p14="http://schemas.microsoft.com/office/powerpoint/2010/main" val="300048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4A65C4-8609-47F0-A5E2-FCF58235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8034E-5339-4116-B884-752B4C9B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Why the Water Tank was harder than it looked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1AC95-205E-4A6C-BDD4-7CB0FE90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CD4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3BF8D-2530-4966-85F5-1A72B426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One-sided actuation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34BBB-FBA1-47B3-8926-7B46B7FC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622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agent controls inlet flow. It can add water quickly, but when the tank is too high it cannot actively pull water out. The best action is often near-zero flow plus waiting for passive drainage.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91302-EE49-41A4-B30A-2215BE4C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5F6"/>
          </a:solidFill>
          <a:ln xmlns:a="http://schemas.openxmlformats.org/drawingml/2006/main" w="9525">
            <a:solidFill>
              <a:srgbClr val="ECC1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640E5-5480-47E1-B434-215E2078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71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Asymmetric learning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73538-3B27-453D-AD19-50A2B6DB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622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5313D"/>
                </a:solidFill>
                <a:latin typeface="Aptos"/>
                <a:ea typeface="Aptos"/>
                <a:cs typeface="Aptos"/>
              </a:rPr>
              <a:t>A reward that helps rising cases can punish draining cases, and a reward that keeps action smooth can make downward corrections look slow or inactive.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60ABC-E94F-46C1-A56F-E1F7B3CC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This is why random average reward was not enough. Raising, draining, and already-at-reference cases had to be inspected separately.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95571-1564-4A56-AC04-1F3F5A94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RL-Water-Tank exports and 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9022021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32F86D-8C03-4DB9-8495-91AFBD80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73966-5ED1-48FE-BA2E-834E86B8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Water Tank runs: the best result depended on the slice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E75E7-9445-46CB-AC5C-E1187B7D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382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F3FCA-4FE8-404F-9E40-E20D2CFE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812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Run 3, stage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B0F7A-49B3-486B-8949-A349E7C7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easy reset / strong shaping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5D1C3-C573-4B98-8657-32082FE7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excellent local and at-reference behavior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642CB-4677-40DE-B192-023DADD8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96B7A"/>
                </a:solidFill>
                <a:latin typeface="Aptos"/>
                <a:ea typeface="Aptos"/>
                <a:cs typeface="Aptos"/>
              </a:rPr>
              <a:t>h0 = hRef = 5: Final MAE 0.0013, case cost 0.0973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F3376-6AC4-4AF8-9087-D2BFC1C8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0382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A9814-9F9B-44FE-B26B-85E1FB04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Run 4, final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09553-CF0F-480D-982D-2B620F2A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004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full reset / no shaping / low noise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71179-33FB-4353-8461-41E50ACE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better final-curriculum candidate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FED94-F10B-45C8-8BF4-FB9D6EBE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96B7A"/>
                </a:solidFill>
                <a:latin typeface="Aptos"/>
                <a:ea typeface="Aptos"/>
                <a:cs typeface="Aptos"/>
              </a:rPr>
              <a:t>works well in many raising cases, but still weak for some draining/high-start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FE6C7-72DA-4423-960F-71F8E79A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63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Meeting phrasing: there was no single clean 'solved' Water Tank agent. The best run depended on whether we cared about local precision, broad curriculum coverage, or asymmetric draining cases.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536CB-BF49-450A-8D01-D158B2E1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run 3 and run 4 allMetrics_prec4.csv</a:t>
            </a:r>
          </a:p>
        </p:txBody>
      </p:sp>
    </p:spTree>
    <p:extLst>
      <p:ext uri="{BB962C8B-B14F-4D97-AF65-F5344CB8AC3E}">
        <p14:creationId xmlns:p14="http://schemas.microsoft.com/office/powerpoint/2010/main" val="20131114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BA7438-CD1B-4132-9FCD-3DF1CD9A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5013E-6A2E-49C2-B2BA-91D0364D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Water Tank example: raising case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99bc8149d4788"/>
          <a:stretch xmlns:a="http://schemas.openxmlformats.org/drawingml/2006/main"/>
        </p:blipFill>
        <p:spPr>
          <a:xfrm xmlns:a="http://schemas.openxmlformats.org/drawingml/2006/main">
            <a:off x="1855381" y="1333500"/>
            <a:ext cx="8328837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5DC2F-4079-4001-B4A5-D04484EE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626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Here the one-sided actuator helps: the agent can actively add water, then back off once the height is near the reference.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9FD10-BC5A-443A-87EF-124065FB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run 4 exported trajectory: New_Export_positive.xlsx</a:t>
            </a:r>
          </a:p>
        </p:txBody>
      </p:sp>
    </p:spTree>
    <p:extLst>
      <p:ext uri="{BB962C8B-B14F-4D97-AF65-F5344CB8AC3E}">
        <p14:creationId xmlns:p14="http://schemas.microsoft.com/office/powerpoint/2010/main" val="13867986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473C65-6670-42C4-96EB-59AE863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C42FD-A56D-42CE-AC31-38120501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Water Tank example: draining case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fd87c40f44a52"/>
          <a:stretch xmlns:a="http://schemas.openxmlformats.org/drawingml/2006/main"/>
        </p:blipFill>
        <p:spPr>
          <a:xfrm xmlns:a="http://schemas.openxmlformats.org/drawingml/2006/main">
            <a:off x="1855381" y="1333500"/>
            <a:ext cx="8328837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75A50-6987-4F0D-9E3A-1F614CA6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626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Here the agent cannot actively drain. It mostly closes the inlet and waits, so reward shaping can easily treat a physical limitation as a policy failure.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445A7-AF61-4582-953C-935F910A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run 4 exported trajectory: New_Export_negative.xlsx</a:t>
            </a:r>
          </a:p>
        </p:txBody>
      </p:sp>
    </p:spTree>
    <p:extLst>
      <p:ext uri="{BB962C8B-B14F-4D97-AF65-F5344CB8AC3E}">
        <p14:creationId xmlns:p14="http://schemas.microsoft.com/office/powerpoint/2010/main" val="930180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76BDB9-D1C3-4D92-9E0D-AC866E66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2D89C-4915-4DEC-9E39-C260807B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Water Tank example: already at the reference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4fc6a8cb74215"/>
          <a:stretch xmlns:a="http://schemas.openxmlformats.org/drawingml/2006/main"/>
        </p:blipFill>
        <p:spPr>
          <a:xfrm xmlns:a="http://schemas.openxmlformats.org/drawingml/2006/main">
            <a:off x="1912531" y="1381125"/>
            <a:ext cx="8328837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3227B-0A2B-4611-9874-DCD8C133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531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This case explains why precision mattered: if the tank already starts at the target, the controller should avoid unnecessary action and not create its own transient.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5BB03-2EBF-45D9-94EA-067BCE69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run 3 stage 1 metrics; trajectory is a labeled sketch because this exact case was not exported</a:t>
            </a:r>
          </a:p>
        </p:txBody>
      </p:sp>
    </p:spTree>
    <p:extLst>
      <p:ext uri="{BB962C8B-B14F-4D97-AF65-F5344CB8AC3E}">
        <p14:creationId xmlns:p14="http://schemas.microsoft.com/office/powerpoint/2010/main" val="10279425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1DD7F4-8181-4053-B62F-D446CD6B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B7815-3AF4-4090-A363-97DD80D7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Why I moved away from Water Tank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9CAB6-A86D-44D1-A1E6-4F9343DA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5CD18-85FB-43D1-BBAC-F72BFD80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Every reward shape seemed to make one part of the grid better while making another part worse.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DFA33-A294-4293-9635-974C59B3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CDB41-43BF-4D71-B3B2-525E70CD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one-direction actuator made the tradeoff especially visible: raising, draining, and already-at-reference behavior wanted different incentives.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04969-A684-4FA1-8C77-7BCD177F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1F7E9-E63A-4360-9FF8-C944E06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project had already served its purpose as a workflow prototype: curriculum, reset design, reward scaling, fixed evaluation, saved artifacts.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F6636-549A-4D9E-B990-6A7833BE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C986F-5F4A-499E-A0AC-F4B0B6C1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Furuta was the real target system, so the Water Tank lessons were carried forward instead of spending the whole project tuning a toy example.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73D4B-30A2-4A2D-BDF3-D96FEC86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RL-Water-Tank README and curriculum docs</a:t>
            </a:r>
          </a:p>
        </p:txBody>
      </p:sp>
    </p:spTree>
    <p:extLst>
      <p:ext uri="{BB962C8B-B14F-4D97-AF65-F5344CB8AC3E}">
        <p14:creationId xmlns:p14="http://schemas.microsoft.com/office/powerpoint/2010/main" val="17076827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5089A4-30F1-4826-9336-C3FA0632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082CE-188F-4427-93FC-38F3BE02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Furuta method search: what options were on the table?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1B6C9-1536-4352-8601-20EAE39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8220E-29F9-42DE-A19E-0EBFFE58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Analytical swing-up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50B8B-01DB-46D6-B26F-93759A50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811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Energy control, Lyapunov/passivity, feedback linearization, optimal control. Strong control literature; useful baseline/context.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2A5C3-AD0B-43AA-9476-605C3398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AAA22-C93B-4AA8-8B4F-5AFFB127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Hybrid RL + classical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B1F62-AE0E-42F9-AEF5-A00678F5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MathWorks QUBE Servo2 repo: SAC for swing-up, PPO for mode selection, feedback controller for balance.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6CA90-1B72-4A4C-A35C-040D7B1A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DB7EF-7247-43A9-9C84-4CAF631F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Near-upright DDPG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9A8F3-4A54-45C1-A1A2-9608659F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575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First direct RL attempt: simplest continuous-action framing, but actor/critic training was fragile.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40BA6-39C0-416B-AD3D-81D91BF6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4C666-C725-4717-AB5F-07CDCB4D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Direct TD3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41157-3CF6-4038-8B8C-1FD12AB2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957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Kept the same normalized action idea but added twin critics, delayed actor updates, and target smoothing.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45C9E-7EB3-4F0D-AD24-E9D91A67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69B60-3607-4D1B-9D0A-A07D14B2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MathWorks-style TD3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9E054-C179-4F77-9041-191EA747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339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Later simplified toward the QUBE TD3 example: no curriculum, 200 Hz agent, sin/cos observations, large replay buffer.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58191-C275-4870-B370-B36BC8B1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Furuta swing-up literature note; MathWorks QUBE Servo2 refs; TD3 transition notes</a:t>
            </a:r>
          </a:p>
        </p:txBody>
      </p:sp>
    </p:spTree>
    <p:extLst>
      <p:ext uri="{BB962C8B-B14F-4D97-AF65-F5344CB8AC3E}">
        <p14:creationId xmlns:p14="http://schemas.microsoft.com/office/powerpoint/2010/main" val="12783462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82D923-CC1D-4400-8AD4-2F661C89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504D6-27A4-4860-B901-63121FF9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Early Furuta approach: good engineering, fragile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8BC0F-56B2-4FCF-AB3C-031B907F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ADA0D-8B43-412B-8AD6-5A1237D7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6212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Started conservatively with near-upright stabilization: controller-facing errors, normalized current/torque action, explicit safety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FF52F-4BD3-474C-9A11-5D9D7B75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8EF4C-C824-45FA-8381-647F8187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Built fixed-case post-stage evaluation, reward-diagnosis logging, signal extraction, and result organization before chasing a big demo.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FC850-F093-4ABA-9045-885F6081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CD44D-1875-4240-8F98-64F3040A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DDPG did not reliably learn even local balance; TD3 was better, but fixed evaluation still showed arm-limit failures and action oscillations.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D7A69-091A-4CAD-B78A-86079B7E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628E2-1701-401B-9703-D9E2616D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3387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staged direct swing-up TD3 branch showed partial learning, but reward scale and arm management were still weak.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A493D-C4D3-4A5E-8ED6-7E1DBF18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000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5F6"/>
          </a:solidFill>
          <a:ln xmlns:a="http://schemas.openxmlformats.org/drawingml/2006/main" w="9525">
            <a:solidFill>
              <a:srgbClr val="ECC1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D340D-BFAB-4F7A-9F6C-D561979F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72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Drawback that changed 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589E1-8871-4A2F-94F0-239B49FA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4768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Training reward could look better than fixed-case control quality.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B0DD7-2F18-46E2-BC73-6519DF31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docs/td3_transition_2026-06-10.md; docs/td3_overnight_results_2026-06-11.md; docs/direct_td3_stage1_results_2026-06-11.md</a:t>
            </a:r>
          </a:p>
        </p:txBody>
      </p:sp>
    </p:spTree>
    <p:extLst>
      <p:ext uri="{BB962C8B-B14F-4D97-AF65-F5344CB8AC3E}">
        <p14:creationId xmlns:p14="http://schemas.microsoft.com/office/powerpoint/2010/main" val="11748556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83145-DBDA-4DEB-90A4-95D8EE74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0317E-53FE-4299-AEBC-4CFA19A3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What changed: from fragile curriculum to MathWorks-style TD3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65874-BF92-4B65-8594-98D1B84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0EEB0-51C9-418D-B375-510F2D5F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Earlier staged direct TD3 helped debug reward and evaluation signals, but training was slow and fragile.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16EB7-7EA5-4883-8E2A-A3CC8F04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D319B-9ABA-4FC4-B00E-DCAA8755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987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stronger path matches the MathWorks QUBE pattern more closely: no curriculum, TD3, 200 Hz agent sample time, 64-unit networks, async parallel training.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1342B-2255-4A13-ADCC-A5C4E171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A9610-98DF-4A63-96CF-2E49E270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big process improvement was fixed-case evaluation. Training reward and episode survival alone were misleading.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88BC1-6B97-4AF6-8E8C-5B688FAA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24375"/>
            <a:ext cx="4000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F0C7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754F2-EE49-4299-A5D0-5FF9DA1A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Reward idea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39814-1958-44C4-B59D-0A37A528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05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survival reward - weighted angle, velocity, action, and action-smoothing costs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35699-A593-47BE-904F-17017A1B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docs/direct_td3_stage1_results_2026-06-11.md; docs/mathworks_style_td3_runs_2026-06-16.md</a:t>
            </a:r>
          </a:p>
        </p:txBody>
      </p:sp>
    </p:spTree>
    <p:extLst>
      <p:ext uri="{BB962C8B-B14F-4D97-AF65-F5344CB8AC3E}">
        <p14:creationId xmlns:p14="http://schemas.microsoft.com/office/powerpoint/2010/main" val="12718053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0AA82-4595-4A32-B0FA-B5B3120F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74955-EE03-4E87-94A5-1384DC02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Evaluation matrix: 297 cases, but only four dimensions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D73A1-8317-4B17-BA78-192E1D27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F7FF4-A49C-409B-B388-88947CF6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Arm offset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16CBA-5032-46B8-9F03-A2EBED4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3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AA812-68F4-41B7-B941-FA69D886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96B7A"/>
                </a:solidFill>
                <a:latin typeface="Aptos"/>
                <a:ea typeface="Aptos"/>
                <a:cs typeface="Aptos"/>
              </a:rPr>
              <a:t>-45, 0, +45 deg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84B13-D55C-44B6-8757-7C3B70FE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145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2DA91-5189-4B4A-A962-99C775A8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Pendulum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D001A-15CD-4A84-A339-137DA8F5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3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11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D731B-E5DA-4627-AD99-77C7484B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96B7A"/>
                </a:solidFill>
                <a:latin typeface="Aptos"/>
                <a:ea typeface="Aptos"/>
                <a:cs typeface="Aptos"/>
              </a:rPr>
              <a:t>-180 to +180 deg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47127-C7BB-4E30-A681-16F71341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145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E0784-6D6E-47D8-B06E-4B286760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526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Arm velocity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4E816-A8B8-4E35-A0FC-2CAA236E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3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3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84644-9965-4972-9EB7-8A4DAE45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96B7A"/>
                </a:solidFill>
                <a:latin typeface="Aptos"/>
                <a:ea typeface="Aptos"/>
                <a:cs typeface="Aptos"/>
              </a:rPr>
              <a:t>-5, 0, +5 rad/s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3A2F8-DB49-45FC-8CC6-662494F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145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467C7-1CFC-4C9E-A2ED-A3DDAF8F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526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Pendulum velocity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ABF87-34B8-4202-A694-05DDEE92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3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3 values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9E5B8-460A-4E7E-B01C-7D1B4451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96B7A"/>
                </a:solidFill>
                <a:latin typeface="Aptos"/>
                <a:ea typeface="Aptos"/>
                <a:cs typeface="Aptos"/>
              </a:rPr>
              <a:t>-10, 0, +10 rad/s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26FEA-C834-4591-88F9-214E629F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24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3 x 11 x 3 x 3 = 297 fixed initial-condition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D793D-57B4-4687-AB1E-E6C75427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33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Easy/core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A509C-D683-42B9-AF22-A3F5FF43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33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theta1 = 0, small theta2, low velocities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946A9-7B09-4E2F-A552-700463E8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Swing-up stress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FABE99-914C-43D5-90BE-65D04935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33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large theta2 errors, including downward starts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A9E9E4-D14A-4D17-AFFB-8215ED08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91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Arm management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5FA8E-E489-4C66-A346-246D0AE0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9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same pendulum cases with +/-45 deg arm offset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BC08B0-27A0-4D97-9A34-8E5C455E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91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Velocity stress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7EBCC7-39D1-43CE-A127-F7C1F906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19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same angles with arm/pendulum initial momentum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948B5E-7CA8-4612-A7C5-0DDD4489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full_eval_cases.csv for run_20260616_012625_td3_mathworks_style_wide</a:t>
            </a:r>
          </a:p>
        </p:txBody>
      </p:sp>
    </p:spTree>
    <p:extLst>
      <p:ext uri="{BB962C8B-B14F-4D97-AF65-F5344CB8AC3E}">
        <p14:creationId xmlns:p14="http://schemas.microsoft.com/office/powerpoint/2010/main" val="2256279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793FA9-9D27-4D61-B126-E6130BB5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08DD2-6C18-4997-81BB-4BEFE66C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Evaluation matrix is being upgraded for oscillation and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88E29-7F74-4F1B-ACA5-C03EAE63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3C303-886E-4C19-8C6C-58E4AC5D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14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End theta2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20C29-694B-4C4E-9683-92512038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Theta2EndRMS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Theta2EndOscRMS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Theta2EndPeakToPeak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Theta2EndOscFreqHz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3028C-B11F-4FFF-9E65-DA339D4F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980E6-2C22-4C1E-8D45-152E7656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14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End action 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D258B-548E-46BE-81FE-A66B8FB5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ActionEndRMS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ActionEndOscRMS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ActionEndPeakToPeak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ActionEndOscFreqHz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ActionDiffRMS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95ED7-5435-45BA-A95D-918EF98A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1C292-3EF3-4AA2-A29E-EB1C9625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Electrical effort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BD03C-8356-4BA5-A169-99385FE9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ElectricalAbsEnergy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MeanAbsElectricalPower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3A915-184E-4F1D-9E16-CE4FBE36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Why this matters: the old summary could say a controller survived and ended near upright, while hiding small final oscillations, action chatter, or high electrical effort.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72EAA-572E-4D10-95D1-F58B9D47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578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Status: columns are now present in the PI/current analytical-active and Simscape-active rerun CSVs.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0D8B3-A4A8-4C00-95A6-06410270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scripts/computeFurutaMetrics.m; scripts/evaluateFurutaController.m</a:t>
            </a:r>
          </a:p>
        </p:txBody>
      </p:sp>
    </p:spTree>
    <p:extLst>
      <p:ext uri="{BB962C8B-B14F-4D97-AF65-F5344CB8AC3E}">
        <p14:creationId xmlns:p14="http://schemas.microsoft.com/office/powerpoint/2010/main" val="12904240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C972B1-F9C9-4894-A703-BB9B0A5F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801E1-4BF6-47BA-80A4-77C66FEC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Training result: usable, but not magic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a85fb4bec4523"/>
          <a:stretch xmlns:a="http://schemas.openxmlformats.org/drawingml/2006/main"/>
        </p:blipFill>
        <p:spPr>
          <a:xfrm xmlns:a="http://schemas.openxmlformats.org/drawingml/2006/main">
            <a:off x="2640419" y="1428750"/>
            <a:ext cx="6911163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16DB2-58C5-4F6B-AC52-D4AABBB8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32604-F00F-4F5A-8122-0880E462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578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740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814D6-66F4-4A64-8CF7-43ACC3A2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1502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Final average reward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05D46-893B-4742-84C2-F54F403D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153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96B7A"/>
                </a:solidFill>
                <a:latin typeface="Aptos"/>
                <a:ea typeface="Aptos"/>
                <a:cs typeface="Aptos"/>
              </a:rPr>
              <a:t>episode 3000 snapshot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F8B38-FFA9-4782-8374-22EA0CB8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86375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8649E-E022-41C8-95C7-456976FB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578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43/50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5F5F7-1BF6-418E-9133-AE939E2D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1502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Last 50 full-length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75EB2-DF91-46C8-96BA-3B27567D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153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96B7A"/>
                </a:solidFill>
                <a:latin typeface="Aptos"/>
                <a:ea typeface="Aptos"/>
                <a:cs typeface="Aptos"/>
              </a:rPr>
              <a:t>late training stability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7CA78-ED84-4530-B42B-9F448369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86375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E6C9E-EF2C-4818-9232-9914B63F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578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3000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FF1E0-1DDE-4A33-8A8E-9A0A0699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91502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Training episodes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0828B-5A43-4669-81E9-723F7FC2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153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96B7A"/>
                </a:solidFill>
                <a:latin typeface="Aptos"/>
                <a:ea typeface="Aptos"/>
                <a:cs typeface="Aptos"/>
              </a:rPr>
              <a:t>wide randomization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11B8F-1A5B-45AC-885C-B6969CFB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86375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2FC75-2EAE-4419-8440-18D8C1A9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578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spiky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569E2-65ED-40EA-A253-3A419EB6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91502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Main caveat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5944B-139B-45EA-B174-89DDA921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153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96B7A"/>
                </a:solidFill>
                <a:latin typeface="Aptos"/>
                <a:ea typeface="Aptos"/>
                <a:cs typeface="Aptos"/>
              </a:rPr>
              <a:t>occasional collapses remain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3548D-0DC9-46BC-9099-E3B79C7A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results/TD3/run_20260616_012625_td3_mathworks_style_wide/training_progress.csv</a:t>
            </a:r>
          </a:p>
        </p:txBody>
      </p:sp>
    </p:spTree>
    <p:extLst>
      <p:ext uri="{BB962C8B-B14F-4D97-AF65-F5344CB8AC3E}">
        <p14:creationId xmlns:p14="http://schemas.microsoft.com/office/powerpoint/2010/main" val="998754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8EA7E-2532-41AB-B192-AD53C758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1EB06-568E-4AEB-B30B-2873F882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Best current controller: PI/current path TD3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93B86-7548-472A-836A-A2C6C61F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2FADF-AB38-4551-AAB9-482C8F0F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907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297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5A7E7-BDF6-4F4D-A5B1-4112B96F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Full fixed 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B271F-4E45-4DD7-834B-211F6150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96B7A"/>
                </a:solidFill>
                <a:latin typeface="Aptos"/>
                <a:ea typeface="Aptos"/>
                <a:cs typeface="Aptos"/>
              </a:rPr>
              <a:t>initial-condition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17DCB-F367-4EAA-B3C2-575A990C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562BC-4705-41A2-A424-44E828F8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907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14.48%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98EB6-FA55-4CA8-A2A7-FAE2113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622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Failure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2AA4E-50D1-4D67-B56F-A0FBDB2F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28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96B7A"/>
                </a:solidFill>
                <a:latin typeface="Aptos"/>
                <a:ea typeface="Aptos"/>
                <a:cs typeface="Aptos"/>
              </a:rPr>
              <a:t>43/297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7FD80-D679-4451-8AC3-3ED514F9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62125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8798D-0956-436E-9D82-FCF86456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907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0.35 deg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71C33-9D4D-422B-9059-19FB216A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622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Median final MAE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7E6F4-295C-490A-8D2A-B8A9A360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28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96B7A"/>
                </a:solidFill>
                <a:latin typeface="Aptos"/>
                <a:ea typeface="Aptos"/>
                <a:cs typeface="Aptos"/>
              </a:rPr>
              <a:t>tight when it succeeds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CF3EC-8460-4162-91C6-2A891D70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62125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4EB81-F59B-47AF-96E1-DBE46404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907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7.23 deg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7F461-A52E-4DA7-9952-67E6AE8B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622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Mean final MAE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AE2F5-BCEE-4FB4-A4CB-8E739534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96B7A"/>
                </a:solidFill>
                <a:latin typeface="Aptos"/>
                <a:ea typeface="Aptos"/>
                <a:cs typeface="Aptos"/>
              </a:rPr>
              <a:t>mean pulled by failures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d31caad08420e"/>
          <a:stretch xmlns:a="http://schemas.openxmlformats.org/drawingml/2006/main"/>
        </p:blipFill>
        <p:spPr>
          <a:xfrm xmlns:a="http://schemas.openxmlformats.org/drawingml/2006/main">
            <a:off x="3393558" y="3333750"/>
            <a:ext cx="5404884" cy="29051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6CF79-0463-4527-8656-4746F45D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full_final_summary.csv and full_final_metrics.csv for run_20260616_012625_td3_mathworks_style_wide</a:t>
            </a:r>
          </a:p>
        </p:txBody>
      </p:sp>
    </p:spTree>
    <p:extLst>
      <p:ext uri="{BB962C8B-B14F-4D97-AF65-F5344CB8AC3E}">
        <p14:creationId xmlns:p14="http://schemas.microsoft.com/office/powerpoint/2010/main" val="9662791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F22756-EF9F-47CE-A279-2EEA7503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C0617-FF6B-4479-89B5-F3548BE8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Failure mode is specific: arm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A324D-A6ED-447B-B650-BDCA1F76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5F6"/>
          </a:solidFill>
          <a:ln xmlns:a="http://schemas.openxmlformats.org/drawingml/2006/main" w="9525">
            <a:solidFill>
              <a:srgbClr val="ECC1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ACB24-D57D-4D40-BC4C-84F57250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43 failures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57741-13DE-4BE8-B790-B612AF17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25313D"/>
                </a:solidFill>
                <a:latin typeface="Aptos"/>
                <a:ea typeface="Aptos"/>
                <a:cs typeface="Aptos"/>
              </a:rPr>
              <a:t>All were arm-angle limit failures. No pendulum-limit failures. No angular-velocity-limit failures.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AAA66-3A63-4E7E-8696-034C2DC3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BFD7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D4ED9-615B-4D6B-9575-C487A577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Exceedance margins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41F2A-A731-4BB1-BB42-7F01EE17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min 0.012 deg</a:t>
            </a:r>
          </a:p>
          <a:p xmlns:a="http://schemas.openxmlformats.org/drawingml/2006/main">
            <a:pPr>
              <a:defRPr sz="22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median 0.312 deg</a:t>
            </a:r>
          </a:p>
          <a:p xmlns:a="http://schemas.openxmlformats.org/drawingml/2006/main">
            <a:pPr>
              <a:defRPr sz="22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max 2.277 deg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649EA-A42A-46ED-A1FD-A8DAC251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Interpretation: the controller can swing up and stabilize in many practical cases, but the objective still tolerates arm travel too much.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B5AD7-B792-4E5C-B4A5-9F1D0A24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meeting handoff and full_final_metrics.csv</a:t>
            </a:r>
          </a:p>
        </p:txBody>
      </p:sp>
    </p:spTree>
    <p:extLst>
      <p:ext uri="{BB962C8B-B14F-4D97-AF65-F5344CB8AC3E}">
        <p14:creationId xmlns:p14="http://schemas.microsoft.com/office/powerpoint/2010/main" val="1979848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5A0EAC-63D3-486E-AAA3-6739EE5C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ABDCF-3827-4719-A619-7B40CA07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Plant mismatch is not just a voltage-path issue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5b1722ca841ae"/>
          <a:stretch xmlns:a="http://schemas.openxmlformats.org/drawingml/2006/main"/>
        </p:blipFill>
        <p:spPr>
          <a:xfrm xmlns:a="http://schemas.openxmlformats.org/drawingml/2006/main">
            <a:off x="2374605" y="1524000"/>
            <a:ext cx="7442791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269D5-AFC6-4559-8ED1-9447F6B0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95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Cautious conclusion: PI/current is robust on the analytical-active plant, but Simscape-active feedback collapses broad robustness. Direct voltage is still useful diagnostically, not yet as the winner.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00957-707A-4443-A7B5-DD1C1DD6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PI/current analytical/Simscape rerun summaries; voltage analytical/Simscape summaries</a:t>
            </a:r>
          </a:p>
        </p:txBody>
      </p:sp>
    </p:spTree>
    <p:extLst>
      <p:ext uri="{BB962C8B-B14F-4D97-AF65-F5344CB8AC3E}">
        <p14:creationId xmlns:p14="http://schemas.microsoft.com/office/powerpoint/2010/main" val="2994000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62676A-39C4-4FE2-9A37-3FBC5E5C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195A9-333F-44D7-A496-E06B73CD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PI/current rerun: analytical reproduces, Simscape collapses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E29C4-79A4-429B-A9BE-24DC6310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Feedback plant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6D48F-6A72-4EE9-B5D9-E6C50AA6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Failure 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06F10-E151-43B1-82A8-E22BCAC8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Failures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E2480-1940-4A1C-82B6-506BF950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925EA-D9B7-4ABC-82CE-0FD2DBEA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614F0-C1F2-4AF2-89F4-7E9BF132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CD49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4E00C-D69C-41B9-8466-DD34B09B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4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Analytical-active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CA185-B931-41D5-B5CB-AF81FF4F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14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14.48% failure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0B931-5D1D-4A4C-98C3-545C713C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43/297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9235D-6C9E-402E-A51C-E62343DD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841CF-4C91-478E-AF7B-14EF0670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D1D37-784D-499C-9B59-4DD5DE68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CD49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1B1B6-AF5D-493F-95EE-A75945E4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52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Simscape-active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AE328-AE6B-47D3-B0E3-C6E1D6A1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86.53% failure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A5909-3D62-4A72-8F4B-7C3CEECA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52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257/297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10CB0-AB21-48C6-ADED-2DF719A8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7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B5A47-BFA3-47C1-A65D-95237716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95875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old PI/current result was effectively analytical-active; the explicit rerun reproduced it exactly.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F950AF-5D88-4B27-8A1D-6F95E2C9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4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4A4C9-032A-4EFD-A376-B11A8362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72125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smaller Simscape mean final theta2 MAE is misleading because most hard cases fail. Lead with failure rate and breakdown.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F39E8C-0E06-4DD1-9960-41566110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722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Hardware note: this argues for plant/interface validation before hardware-oriented claims.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9CAFE4-C9F5-4443-899F-E1EB148C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pi_current_analytical_active/full_final_summary.csv; pi_current_simscape_active/full_final_summary.csv</a:t>
            </a:r>
          </a:p>
        </p:txBody>
      </p:sp>
    </p:spTree>
    <p:extLst>
      <p:ext uri="{BB962C8B-B14F-4D97-AF65-F5344CB8AC3E}">
        <p14:creationId xmlns:p14="http://schemas.microsoft.com/office/powerpoint/2010/main" val="1869302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B9A31C-AE0E-4B54-8364-D57DCAD8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FA9A3-1DAF-4ED3-8DD1-13ACFE0D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New metrics clarify what changed and what did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B13A8-BBF5-4158-B2D0-4F846EA4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D53DF-3132-4573-806D-17BD7071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431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Short/easy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54EF3-9FBA-4DE1-B657-762F15EE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3905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Analytical and Simscape are very similar: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Theta2EndOscRMS about 0.0067 rad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Theta2EndPeakToPeak about 0.02 rad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Oscillation frequency about 7 Hz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7CE36-82E3-4EB0-9F87-2CD03DF8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CD49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62369-C8C2-48E3-9C7C-5E2EA21C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43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Broad/full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0E9C7-0ED1-40E0-AB10-09633201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3905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Simscape-active fails much earlier/more often: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omega 5 rad/s: 66/66 failed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omega 10 rad/s: 188/198 failed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Failure rate is the headline.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6A666-B379-4243-8A66-DAE2B31C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Meeting phrasing: the final-second oscillation metric says easy upright behavior transfers, but the full matrix says recovery robustness does not.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18B48-5C5F-4698-AB49-309A89C7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PI/current analytical-active and Simscape-active rerun summaries; user-provided breakdown</a:t>
            </a:r>
          </a:p>
        </p:txBody>
      </p:sp>
    </p:spTree>
    <p:extLst>
      <p:ext uri="{BB962C8B-B14F-4D97-AF65-F5344CB8AC3E}">
        <p14:creationId xmlns:p14="http://schemas.microsoft.com/office/powerpoint/2010/main" val="317763855"/>
      </p:ext>
    </p:extLst>
  </p:cSld>
</p:sld>
</file>

<file path=ppt/theme/theme1.xml><?xml version="1.0" encoding="utf-8"?>
<a:theme xmlns:a="http://schemas.openxmlformats.org/drawingml/2006/main" name="ChatGPT">
  <a:themeElements>
    <a:clrScheme name="Furuta update">
      <a:dk1>
        <a:srgbClr val="000000"/>
      </a:dk1>
      <a:lt1>
        <a:srgbClr val="FFFFFF"/>
      </a:lt1>
      <a:dk2>
        <a:srgbClr val="25313D"/>
      </a:dk2>
      <a:lt2>
        <a:srgbClr val="E8EDF2"/>
      </a:lt2>
      <a:accent1>
        <a:srgbClr val="0B4F6C"/>
      </a:accent1>
      <a:accent2>
        <a:srgbClr val="2A9D8F"/>
      </a:accent2>
      <a:accent3>
        <a:srgbClr val="F2A541"/>
      </a:accent3>
      <a:accent4>
        <a:srgbClr val="D1495B"/>
      </a:accent4>
      <a:accent5>
        <a:srgbClr val="4BACC6"/>
      </a:accent5>
      <a:accent6>
        <a:srgbClr val="F79646"/>
      </a:accent6>
      <a:hlink>
        <a:srgbClr val="0B4F6C"/>
      </a:hlink>
      <a:folHlink>
        <a:srgbClr val="2A9D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uruta upd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2026-06-17T13:02:27.7470000Z</dcterms:created>
  <dcterms:modified xsi:type="dcterms:W3CDTF">2026-06-17T13:02:27.7470000Z</dcterms:modified>
</coreProperties>
</file>